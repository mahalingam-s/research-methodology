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Automated Laboratory Camera Examination Proctoring Framework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High-Precision Computer Vision, 3D Pose Tracking, &amp; Explainable AI (XAI) Risk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TEAM NO: 22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Sibichandaru C. (CB.SC.P2CSE26027) — Literature Review &amp; Systematic Review Synthesis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Mahalingam S. (CB.SC.P2CSE26016) — Architecture, Lab Infrastructure &amp; Cheating Taxonomy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• Vidyasagar S. (CB.SC.P2AIE26040) — AI Algorithms, Vision Models, XAI &amp; Benchmark Pipeline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Infrastructure Target: Common Laboratory HD Camera + Central Workstation ($0 Hardware Expense)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Executive Summary &amp; Hardware Scope Revision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Omitted Legacy Hardware (Old Approach)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ESP32-CAM Microchips: </a:t>
            </a:r>
            <a:r>
              <a:rPr sz="1050">
                <a:solidFill>
                  <a:srgbClr val="475569"/>
                </a:solidFill>
                <a:latin typeface="Calibri"/>
              </a:rPr>
              <a:t>Individual desk microcontrollers completely removed due to wiring clutter, power issues, and low resolution (320x240).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INMP441 Microphones: </a:t>
            </a:r>
            <a:r>
              <a:rPr sz="1050">
                <a:solidFill>
                  <a:srgbClr val="475569"/>
                </a:solidFill>
                <a:latin typeface="Calibri"/>
              </a:rPr>
              <a:t>Desk microphones omitted; acoustic whisper analysis dropped in favor of high-precision visual proctoring.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Wi-Fi Network Drops: </a:t>
            </a:r>
            <a:r>
              <a:rPr sz="1050">
                <a:solidFill>
                  <a:srgbClr val="475569"/>
                </a:solidFill>
                <a:latin typeface="Calibri"/>
              </a:rPr>
              <a:t>Eliminated Wi-Fi streaming latency and bandwidth congestion caused by dozens of desk chips.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Adopted Infrastructure (Current Approach)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Common Lab HD Camera: </a:t>
            </a:r>
            <a:r>
              <a:rPr sz="1050">
                <a:solidFill>
                  <a:srgbClr val="475569"/>
                </a:solidFill>
                <a:latin typeface="Calibri"/>
              </a:rPr>
              <a:t>Repurposes existing overhead lab CCTV or wide-angle USB cameras streaming over direct USB or local Ethernet.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Central Workstation: </a:t>
            </a:r>
            <a:r>
              <a:rPr sz="1050">
                <a:solidFill>
                  <a:srgbClr val="475569"/>
                </a:solidFill>
                <a:latin typeface="Calibri"/>
              </a:rPr>
              <a:t>Executes multi-module AI inference (Python 3.10) directly on the central lab computer.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Zero Additional Cost: </a:t>
            </a:r>
            <a:r>
              <a:rPr sz="1050">
                <a:solidFill>
                  <a:srgbClr val="475569"/>
                </a:solidFill>
                <a:latin typeface="Calibri"/>
              </a:rPr>
              <a:t>Reduces institutional hardware procurement expense to $0 by utilizing pre-installed laboratory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Problem Statement &amp; Institutional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Core Invigilation Challenges in Academic Computer Labs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Human Invigilator Fatigue: </a:t>
            </a:r>
            <a:r>
              <a:rPr sz="1050">
                <a:solidFill>
                  <a:srgbClr val="475569"/>
                </a:solidFill>
                <a:latin typeface="Calibri"/>
              </a:rPr>
              <a:t>Invigilators supervising large cohorts suffer from cognitive fatigue and visual blind spots across monitor rows.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Passive CCTV Limitations: </a:t>
            </a:r>
            <a:r>
              <a:rPr sz="1050">
                <a:solidFill>
                  <a:srgbClr val="475569"/>
                </a:solidFill>
                <a:latin typeface="Calibri"/>
              </a:rPr>
              <a:t>Standard surveillance cameras merely record video for post-exam review without real-time threat detection.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Covert Cheating Modalities: </a:t>
            </a:r>
            <a:r>
              <a:rPr sz="1050">
                <a:solidFill>
                  <a:srgbClr val="475569"/>
                </a:solidFill>
                <a:latin typeface="Calibri"/>
              </a:rPr>
              <a:t>Subtle infractions—such as unauthorized side glances, discreet phone usage under desks, and impersonation—go undetected.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High Cost of Commercial Software: </a:t>
            </a:r>
            <a:r>
              <a:rPr sz="1050">
                <a:solidFill>
                  <a:srgbClr val="475569"/>
                </a:solidFill>
                <a:latin typeface="Calibri"/>
              </a:rPr>
              <a:t>Commercial tools require purchasing dedicated desk cameras or proprietary hardware attachments for every student.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Literature Review: 4 Thematic Pillars (2025–2026)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Pillar 1: System Architectures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Malhotra &amp; Chhabra (2026): </a:t>
            </a:r>
            <a:r>
              <a:rPr sz="1050">
                <a:solidFill>
                  <a:srgbClr val="475569"/>
                </a:solidFill>
                <a:latin typeface="Calibri"/>
              </a:rPr>
              <a:t>10-year review of 80 proctoring studies emphasizing multi-sensory AI.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ProctorPlus (Amal et al. 2026): </a:t>
            </a:r>
            <a:r>
              <a:rPr sz="1050">
                <a:solidFill>
                  <a:srgbClr val="475569"/>
                </a:solidFill>
                <a:latin typeface="Calibri"/>
              </a:rPr>
              <a:t>IEEE ICoECIT real-time YOLOv11 &amp; gaze tracking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Pillar 2: Object Detection &amp; Evidence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Wang et al. (Nature Sci Rep 2025): </a:t>
            </a:r>
            <a:r>
              <a:rPr sz="1050">
                <a:solidFill>
                  <a:srgbClr val="475569"/>
                </a:solidFill>
                <a:latin typeface="Calibri"/>
              </a:rPr>
              <a:t>YOLOv12 object detection with blockchain tamper-proof logs.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Smart CCTV (Procedia CS 2025): </a:t>
            </a:r>
            <a:r>
              <a:rPr sz="1050">
                <a:solidFill>
                  <a:srgbClr val="475569"/>
                </a:solidFill>
                <a:latin typeface="Calibri"/>
              </a:rPr>
              <a:t>Deep transfer learning for overhead CCTV cheating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Pillar 3: Biometric Identity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Jack et al. (Discover AI 2026): </a:t>
            </a:r>
            <a:r>
              <a:rPr sz="1050">
                <a:solidFill>
                  <a:srgbClr val="475569"/>
                </a:solidFill>
                <a:latin typeface="Calibri"/>
              </a:rPr>
              <a:t>Multi-facet face recognition model for examination attendance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Pillar 4: Explainable AI (XAI)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XAI Interpretability Gap: </a:t>
            </a:r>
            <a:r>
              <a:rPr sz="1050">
                <a:solidFill>
                  <a:srgbClr val="475569"/>
                </a:solidFill>
                <a:latin typeface="Calibri"/>
              </a:rPr>
              <a:t>Integrating Grad-CAM saliency heatmaps and SHAP feature attributions into proctoring.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Comparative Literature Summary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2103120"/>
                <a:gridCol w="2286000"/>
                <a:gridCol w="1737360"/>
                <a:gridCol w="1371600"/>
              </a:tblGrid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Research Work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Camera Source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Detection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Hardware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Explainable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ProctorPlus (Amal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Webcam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YOLOv11 + Dlib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High (Per Student PC)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Wang et al. (Nature Sci Rep)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CCTV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YOLOv12 + Blockchain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Medium (Servers)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Mohapatra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Desk Pi Camera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Haar 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$35 / 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Team 22 Proposed Framework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Common Lab HD Camera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FaceNet + YOLOv8 + MediaPipe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$0 Zero Hardware Cost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Yes (Grad-CAM &amp; SHAP)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4 Critical Research Gaps Addressed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Gap 1: High Infrastructure Costs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Prior works demand expensive per-desk hardware.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Team 22 uses pre-installed Common Lab Cameras ($0 Cost).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Gap 2: Wi-Fi Drops &amp; Low 320x240 Video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Wireless desk micro-chips suffer bandwidth drops.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Team 22 uses direct USB/Ethernet high-res 1080p stream.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Gap 3: Black-Box Unexplainable Flags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Traditional DL outputs binary alerts without proof.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Team 22 integrates Grad-CAM heatmaps &amp; SHAP attributions.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Gap 4: Lack of Visual Risk Fusion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Modules evaluate isolated, uncalibrated alerts.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Team 22 formulates Risk = 0.40*Auth + 0.40*Obj + 0.20*Pose.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Research Aim &amp; Key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Aim &amp; 7 Core Technical Objectives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Research Aim: </a:t>
            </a:r>
            <a:r>
              <a:rPr sz="1050">
                <a:solidFill>
                  <a:srgbClr val="475569"/>
                </a:solidFill>
                <a:latin typeface="Calibri"/>
              </a:rPr>
              <a:t>Design and evaluate a zero-hardware-cost automated lab proctoring framework combining face verification, fine-tuned YOLOv8-Nano, MediaPipe 3D pose tracking, and XAI risk fusion.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1. Stream Acquisition: </a:t>
            </a:r>
            <a:r>
              <a:rPr sz="1050">
                <a:solidFill>
                  <a:srgbClr val="475569"/>
                </a:solidFill>
                <a:latin typeface="Calibri"/>
              </a:rPr>
              <a:t>Interface Common Lab HD Cameras over direct USB/Ethernet at 1080p@30fps.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2. Face Verification: </a:t>
            </a:r>
            <a:r>
              <a:rPr sz="1050">
                <a:solidFill>
                  <a:srgbClr val="475569"/>
                </a:solidFill>
                <a:latin typeface="Calibri"/>
              </a:rPr>
              <a:t>Extract 128D FaceNet embeddings &amp; match against hall ticket photos (tau = 0.60).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3. Object Detection: </a:t>
            </a:r>
            <a:r>
              <a:rPr sz="1050">
                <a:solidFill>
                  <a:srgbClr val="475569"/>
                </a:solidFill>
                <a:latin typeface="Calibri"/>
              </a:rPr>
              <a:t>Fine-tune YOLOv8-Nano to detect smartphones, smartwatches, and cheat sheets.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4. 3D Pose &amp; Gaze: </a:t>
            </a:r>
            <a:r>
              <a:rPr sz="1050">
                <a:solidFill>
                  <a:srgbClr val="475569"/>
                </a:solidFill>
                <a:latin typeface="Calibri"/>
              </a:rPr>
              <a:t>Map 468 MediaPipe 3D facial landmarks and solve Euler angles (Yaw, Pitch, Roll).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5. Visual Risk Fusion: </a:t>
            </a:r>
            <a:r>
              <a:rPr sz="1050">
                <a:solidFill>
                  <a:srgbClr val="475569"/>
                </a:solidFill>
                <a:latin typeface="Calibri"/>
              </a:rPr>
              <a:t>Formulate Risk_Total = 0.40*Auth + 0.40*Object + 0.20*Pose (Flag Threshold = 0.25).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6. Explainable AI: </a:t>
            </a:r>
            <a:r>
              <a:rPr sz="1050">
                <a:solidFill>
                  <a:srgbClr val="475569"/>
                </a:solidFill>
                <a:latin typeface="Calibri"/>
              </a:rPr>
              <a:t>Generate Grad-CAM saliency heatmaps &amp; SHAP mathematical feature attributions.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7. Invigilator Dashboard: </a:t>
            </a:r>
            <a:r>
              <a:rPr sz="1050">
                <a:solidFill>
                  <a:srgbClr val="475569"/>
                </a:solidFill>
                <a:latin typeface="Calibri"/>
              </a:rPr>
              <a:t>Maintain timestamped JSON audit logs &amp; real-time visual alert flags.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System Processing Workflow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7 Sequential Processing Stages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Stage 1 — Frame Capture: </a:t>
            </a:r>
            <a:r>
              <a:rPr sz="1050">
                <a:solidFill>
                  <a:srgbClr val="475569"/>
                </a:solidFill>
                <a:latin typeface="Calibri"/>
              </a:rPr>
              <a:t>Common Lab HD Camera captures 1080p stream -&gt; Workstation Python Engine.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Stage 2 — Biometric Auth: </a:t>
            </a:r>
            <a:r>
              <a:rPr sz="1050">
                <a:solidFill>
                  <a:srgbClr val="475569"/>
                </a:solidFill>
                <a:latin typeface="Calibri"/>
              </a:rPr>
              <a:t>FaceNet extracts 128D embeddings -&gt; Cosine distance matching against photo.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Stage 3 — Object Inference: </a:t>
            </a:r>
            <a:r>
              <a:rPr sz="1050">
                <a:solidFill>
                  <a:srgbClr val="475569"/>
                </a:solidFill>
                <a:latin typeface="Calibri"/>
              </a:rPr>
              <a:t>YOLOv8-Nano scans frame for mobile phones, smartwatches, and cheat papers.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Stage 4 — Pose Tracking: </a:t>
            </a:r>
            <a:r>
              <a:rPr sz="1050">
                <a:solidFill>
                  <a:srgbClr val="475569"/>
                </a:solidFill>
                <a:latin typeface="Calibri"/>
              </a:rPr>
              <a:t>MediaPipe tracks 468 3D landmarks -&gt; SolvePnP computes Yaw/Pitch/Roll &amp; gaze.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Stage 5 — Visual Risk Fusion: </a:t>
            </a:r>
            <a:r>
              <a:rPr sz="1050">
                <a:solidFill>
                  <a:srgbClr val="475569"/>
                </a:solidFill>
                <a:latin typeface="Calibri"/>
              </a:rPr>
              <a:t>Calculates Risk_Total = (0.40 * Auth_Risk) + (0.40 * Object_Risk) + (0.20 * Pose_Risk).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Stage 6 — XAI Generation: </a:t>
            </a:r>
            <a:r>
              <a:rPr sz="1050">
                <a:solidFill>
                  <a:srgbClr val="475569"/>
                </a:solidFill>
                <a:latin typeface="Calibri"/>
              </a:rPr>
              <a:t>Blends Grad-CAM visual heatmaps over items &amp; computes SHAP percentage contributions.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Stage 7 — Invigilator Dashboard: </a:t>
            </a:r>
            <a:r>
              <a:rPr sz="1050">
                <a:solidFill>
                  <a:srgbClr val="475569"/>
                </a:solidFill>
                <a:latin typeface="Calibri"/>
              </a:rPr>
              <a:t>Triggers visual alert banner if Risk &gt;= 0.25 &amp; saves incident audit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Team No. 22 Member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Member 1: Sibichandaru C.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Role: </a:t>
            </a:r>
            <a:r>
              <a:rPr sz="1050">
                <a:solidFill>
                  <a:srgbClr val="475569"/>
                </a:solidFill>
                <a:latin typeface="Calibri"/>
              </a:rPr>
              <a:t>Literature Review &amp; Systematic Analysis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Focus Areas: </a:t>
            </a:r>
            <a:r>
              <a:rPr sz="1050">
                <a:solidFill>
                  <a:srgbClr val="475569"/>
                </a:solidFill>
                <a:latin typeface="Calibri"/>
              </a:rPr>
              <a:t>State-of-the-Art proctoring review, 2025-2026 literature database synthesis, comparative review matrix, and academic integrity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Member 2: Mahalingam 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Role: </a:t>
            </a:r>
            <a:r>
              <a:rPr sz="1050">
                <a:solidFill>
                  <a:srgbClr val="475569"/>
                </a:solidFill>
                <a:latin typeface="Calibri"/>
              </a:rPr>
              <a:t>Architecture &amp; Lab Infrastructure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Focus Areas: </a:t>
            </a:r>
            <a:r>
              <a:rPr sz="1050">
                <a:solidFill>
                  <a:srgbClr val="475569"/>
                </a:solidFill>
                <a:latin typeface="Calibri"/>
              </a:rPr>
              <a:t>Common Lab HD Camera integration, zero-cost network setup, lab spatial coverage, cheating behavior taxonomy, and visual temporal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Member 3: Vidyasagar 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Role: </a:t>
            </a:r>
            <a:r>
              <a:rPr sz="1050">
                <a:solidFill>
                  <a:srgbClr val="475569"/>
                </a:solidFill>
                <a:latin typeface="Calibri"/>
              </a:rPr>
              <a:t>AI Algorithms &amp; Benchmark Pipeline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Focus Areas: </a:t>
            </a:r>
            <a:r>
              <a:rPr sz="1050">
                <a:solidFill>
                  <a:srgbClr val="475569"/>
                </a:solidFill>
                <a:latin typeface="Calibri"/>
              </a:rPr>
              <a:t>FaceNet 128D embeddings, fine-tuned YOLOv8-Nano, MediaPipe 3D pose SolvePnP, Grad-CAM/SHAP XAI engine, and python test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Software Stack &amp; Computer Vision Dictionary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Computer Vision &amp; AI Models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Python 3.10+: </a:t>
            </a:r>
            <a:r>
              <a:rPr sz="1050">
                <a:solidFill>
                  <a:srgbClr val="475569"/>
                </a:solidFill>
                <a:latin typeface="Calibri"/>
              </a:rPr>
              <a:t>Central engine unifying AI models, OpenCV video streams, and dashboard rendering.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YOLOv8-Nano: </a:t>
            </a:r>
            <a:r>
              <a:rPr sz="1050">
                <a:solidFill>
                  <a:srgbClr val="475569"/>
                </a:solidFill>
                <a:latin typeface="Calibri"/>
              </a:rPr>
              <a:t>State-of-the-art real-time object detector scanning frames for prohibited gadgets.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MediaPipe Face Mesh: </a:t>
            </a:r>
            <a:r>
              <a:rPr sz="1050">
                <a:solidFill>
                  <a:srgbClr val="475569"/>
                </a:solidFill>
                <a:latin typeface="Calibri"/>
              </a:rPr>
              <a:t>Google ML tool mapping 468 3D facial landmarks for head orientation math.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FaceNet / Dlib: </a:t>
            </a:r>
            <a:r>
              <a:rPr sz="1050">
                <a:solidFill>
                  <a:srgbClr val="475569"/>
                </a:solidFill>
                <a:latin typeface="Calibri"/>
              </a:rPr>
              <a:t>Deep neural network extracting 128D face embeddings for identity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Explainable AI (XAI) Tools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Grad-CAM Heatmaps: </a:t>
            </a:r>
            <a:r>
              <a:rPr sz="1050">
                <a:solidFill>
                  <a:srgbClr val="475569"/>
                </a:solidFill>
                <a:latin typeface="Calibri"/>
              </a:rPr>
              <a:t>Gradient Class Activation Mapping rendering visual saliency overlays on detected items.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SHAP Attributions: </a:t>
            </a:r>
            <a:r>
              <a:rPr sz="1050">
                <a:solidFill>
                  <a:srgbClr val="475569"/>
                </a:solidFill>
                <a:latin typeface="Calibri"/>
              </a:rPr>
              <a:t>Game-theoretic additive explanations computing exact percentage risk contributions.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OpenCV &amp; Pillow: </a:t>
            </a:r>
            <a:r>
              <a:rPr sz="1050">
                <a:solidFill>
                  <a:srgbClr val="475569"/>
                </a:solidFill>
                <a:latin typeface="Calibri"/>
              </a:rPr>
              <a:t>Frame acquisition, matrix transformations, bounding box drawing, and image saving.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NumPy: </a:t>
            </a:r>
            <a:r>
              <a:rPr sz="1050">
                <a:solidFill>
                  <a:srgbClr val="475569"/>
                </a:solidFill>
                <a:latin typeface="Calibri"/>
              </a:rPr>
              <a:t>High-performance vector operations and distance formula computations under the hood.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Mathematical Formulations &amp; Visual Risk Equations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Core Mathematical Equations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1. Cosine Distance for Face Authentication: </a:t>
            </a:r>
            <a:r>
              <a:rPr sz="1050">
                <a:solidFill>
                  <a:srgbClr val="475569"/>
                </a:solidFill>
                <a:latin typeface="Calibri"/>
              </a:rPr>
              <a:t>d(f1, f2) = 1 - (f1 . f2) / (||f1|| * ||f2||);  Auth_Risk = min(1.0, max(0.0, (d - 0.40) / 0.30))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2. Mean Average Precision (mAP@0.50): </a:t>
            </a:r>
            <a:r>
              <a:rPr sz="1050">
                <a:solidFill>
                  <a:srgbClr val="475569"/>
                </a:solidFill>
                <a:latin typeface="Calibri"/>
              </a:rPr>
              <a:t>IoU = Area(Box_pred cap Box_gt) / Area(Box_pred cup Box_gt);  mAP = (1/N) * sum AP_c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3. 3D Head Pose MAE Error: </a:t>
            </a:r>
            <a:r>
              <a:rPr sz="1050">
                <a:solidFill>
                  <a:srgbClr val="475569"/>
                </a:solidFill>
                <a:latin typeface="Calibri"/>
              </a:rPr>
              <a:t>MAE_yaw = (1/N) * sum | Yaw_estimated - Yaw_groundtruth |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4. Visual Risk Score Fusion: </a:t>
            </a:r>
            <a:r>
              <a:rPr sz="1050">
                <a:solidFill>
                  <a:srgbClr val="475569"/>
                </a:solidFill>
                <a:latin typeface="Calibri"/>
              </a:rPr>
              <a:t>Risk_Total = (0.40 * Auth_Risk) + (0.40 * Object_Risk) + (0.20 * Pose_Risk);  Flag = (Risk_Total &gt;= 0.25)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5. SHAP Additive Feature Form: </a:t>
            </a:r>
            <a:r>
              <a:rPr sz="1050">
                <a:solidFill>
                  <a:srgbClr val="475569"/>
                </a:solidFill>
                <a:latin typeface="Calibri"/>
              </a:rPr>
              <a:t>g(z') = phi_0 + phi_Auth + phi_Object + phi_Pose;  phi_Auth = 0.40*Auth, phi_Obj = 0.40*Obj, phi_Pose = 0.20*Pose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Empirical Evaluation Benchmark Results (Lab Camera Stream)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097280"/>
                <a:gridCol w="1097280"/>
                <a:gridCol w="1280160"/>
                <a:gridCol w="1188720"/>
                <a:gridCol w="2103120"/>
              </a:tblGrid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Test Frame 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Auth Match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mAP@0.50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Head Yaw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Risk 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System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frame_01_normal.jpg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AUTHENTIC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-0.5°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6A34A"/>
                          </a:solidFill>
                          <a:latin typeface="Calibri"/>
                        </a:rPr>
                        <a:t>NORMAL [OK]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frame_02_impersonator.jpg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AUTHENTIC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 Items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-0.1°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6A34A"/>
                          </a:solidFill>
                          <a:latin typeface="Calibri"/>
                        </a:rPr>
                        <a:t>NORMAL [OK]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frame_03_mobile_phone.jpg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AUTHENTIC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1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-0.5°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36.8%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DC2626"/>
                          </a:solidFill>
                          <a:latin typeface="Calibri"/>
                        </a:rPr>
                        <a:t>ALERT [FLAGGED]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frame_04_head_turn.jpg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AUTHENTIC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 Items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37.4°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16.6%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6A34A"/>
                          </a:solidFill>
                          <a:latin typeface="Calibri"/>
                        </a:rPr>
                        <a:t>NORMAL [OK]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frame_05_watch_paper.jpg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AUTHENTIC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2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-0.5°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293B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DC2626"/>
                          </a:solidFill>
                          <a:latin typeface="Calibri"/>
                        </a:rPr>
                        <a:t>ALERT [FLAGGED]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Explainable AI (XAI) Visual Evidence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Grad-CAM Saliency Heatmaps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Visual Activation: </a:t>
            </a:r>
            <a:r>
              <a:rPr sz="1050">
                <a:solidFill>
                  <a:srgbClr val="475569"/>
                </a:solidFill>
                <a:latin typeface="Calibri"/>
              </a:rPr>
              <a:t>Overlays glowing heatmaps directly over detected mobile phones and cheat sheets.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Visual Proof: </a:t>
            </a:r>
            <a:r>
              <a:rPr sz="1050">
                <a:solidFill>
                  <a:srgbClr val="475569"/>
                </a:solidFill>
                <a:latin typeface="Calibri"/>
              </a:rPr>
              <a:t>Provides immediate visual evidence for human invigilators on the dashboard.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Eliminates False Flags: </a:t>
            </a:r>
            <a:r>
              <a:rPr sz="1050">
                <a:solidFill>
                  <a:srgbClr val="475569"/>
                </a:solidFill>
                <a:latin typeface="Calibri"/>
              </a:rPr>
              <a:t>Invigilators can visually verify if a highlighted item is truly a phone or a pencil.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SHAP Feature Attributions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Percentage Breakdown: </a:t>
            </a:r>
            <a:r>
              <a:rPr sz="1050">
                <a:solidFill>
                  <a:srgbClr val="475569"/>
                </a:solidFill>
                <a:latin typeface="Calibri"/>
              </a:rPr>
              <a:t>Displays exact contribution of each module to the aggregate Risk Score.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Example Output: </a:t>
            </a:r>
            <a:r>
              <a:rPr sz="1050">
                <a:solidFill>
                  <a:srgbClr val="475569"/>
                </a:solidFill>
                <a:latin typeface="Calibri"/>
              </a:rPr>
              <a:t>'XAI SHAP: Prohibited Item Detected (+36.8%), Suspicious Head Turn (+0.0%)'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Invigilator Trust: </a:t>
            </a:r>
            <a:r>
              <a:rPr sz="1050">
                <a:solidFill>
                  <a:srgbClr val="475569"/>
                </a:solidFill>
                <a:latin typeface="Calibri"/>
              </a:rPr>
              <a:t>Ensures transparent, verifiable incident audit reporting.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Research Contributions &amp; Novelty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Key Institutional &amp; Algorithmic Contributions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1. Zero Additional Hardware Model: </a:t>
            </a:r>
            <a:r>
              <a:rPr sz="1050">
                <a:solidFill>
                  <a:srgbClr val="475569"/>
                </a:solidFill>
                <a:latin typeface="Calibri"/>
              </a:rPr>
              <a:t>Demonstrates that university computer labs can achieve automated AI proctoring using pre-installed overhead cameras ($0 hardware expense).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2. Dual Explainable AI (XAI) Framework: </a:t>
            </a:r>
            <a:r>
              <a:rPr sz="1050">
                <a:solidFill>
                  <a:srgbClr val="475569"/>
                </a:solidFill>
                <a:latin typeface="Calibri"/>
              </a:rPr>
              <a:t>Integrates Grad-CAM visual heatmaps with SHAP mathematical attributions into a live proctoring dashboard.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3. Calibrated Visual Risk Fusion: </a:t>
            </a:r>
            <a:r>
              <a:rPr sz="1050">
                <a:solidFill>
                  <a:srgbClr val="475569"/>
                </a:solidFill>
                <a:latin typeface="Calibri"/>
              </a:rPr>
              <a:t>Establishes a mathematically grounded risk aggregation formula balancing face authentication, object detection, and 3D head pose tracking.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 &amp; Future Scope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Empowering Academic Institutions with Zero-Cost High-Precision Proctoring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Conclusion: The proposed framework successfully automates examination invigilation using existing lab cameras and workstations.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Future Scope: Integration of workstation digital screen active-tab monitoring to create a unified physical-digital proctoring suite.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