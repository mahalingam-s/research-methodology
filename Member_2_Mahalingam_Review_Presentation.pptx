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Automated Laboratory Camera Examination Proctoring Framework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F59E0B"/>
                </a:solidFill>
                <a:latin typeface="Calibri"/>
              </a:rPr>
              <a:t>Member 2 Presentation: System Architecture &amp; Lab Infrastructure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PRESENTER: Mahalingam S. (CB.SC.P2CSE26016)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Team No. 22 | Department of Computer Science &amp; AI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FFFFFF"/>
                </a:solidFill>
                <a:latin typeface="Calibri"/>
              </a:rPr>
              <a:t>Focus: System Architecture, Common Lab HD Camera Setup, &amp; Cheating Taxonomy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Member 2 Role &amp; Designated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Core Technical Responsibilities of Member 2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System Architecture: </a:t>
            </a:r>
            <a:r>
              <a:rPr sz="1050">
                <a:solidFill>
                  <a:srgbClr val="475569"/>
                </a:solidFill>
                <a:latin typeface="Calibri"/>
              </a:rPr>
              <a:t>Designing the end-to-end laboratory video processing pipeline.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Camera Infrastructure: </a:t>
            </a:r>
            <a:r>
              <a:rPr sz="1050">
                <a:solidFill>
                  <a:srgbClr val="475569"/>
                </a:solidFill>
                <a:latin typeface="Calibri"/>
              </a:rPr>
              <a:t>Interfacing Common Laboratory HD Cameras over USB / local Ethernet to central workstations.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Cheating Taxonomy: </a:t>
            </a:r>
            <a:r>
              <a:rPr sz="1050">
                <a:solidFill>
                  <a:srgbClr val="475569"/>
                </a:solidFill>
                <a:latin typeface="Calibri"/>
              </a:rPr>
              <a:t>Categorizing physical examination malpractice behaviors (impersonation, gadgets, head turning).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Zero-Cost Model: </a:t>
            </a:r>
            <a:r>
              <a:rPr sz="1050">
                <a:solidFill>
                  <a:srgbClr val="475569"/>
                </a:solidFill>
                <a:latin typeface="Calibri"/>
              </a:rPr>
              <a:t>Eliminating desk hardware procurement costs for institutional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Hardware Setup: Old Approach vs New Direction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Old Direction (Omitted)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ESP32-CAMs: </a:t>
            </a:r>
            <a:r>
              <a:rPr sz="1050">
                <a:solidFill>
                  <a:srgbClr val="475569"/>
                </a:solidFill>
                <a:latin typeface="Calibri"/>
              </a:rPr>
              <a:t>Desk microcontrollers removed due to power wiring clutter and low 320x240 resolution.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INMP441 Mics: </a:t>
            </a:r>
            <a:r>
              <a:rPr sz="1050">
                <a:solidFill>
                  <a:srgbClr val="475569"/>
                </a:solidFill>
                <a:latin typeface="Calibri"/>
              </a:rPr>
              <a:t>Desk microphones omitted; audio whisper analysis dropped.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Wi-Fi Latency: </a:t>
            </a:r>
            <a:r>
              <a:rPr sz="1050">
                <a:solidFill>
                  <a:srgbClr val="475569"/>
                </a:solidFill>
                <a:latin typeface="Calibri"/>
              </a:rPr>
              <a:t>Eliminated Wi-Fi network congestion caused by dozens of desk streaming chips.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New Direction (Adopted)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Common Lab HD Camera: </a:t>
            </a:r>
            <a:r>
              <a:rPr sz="1050">
                <a:solidFill>
                  <a:srgbClr val="475569"/>
                </a:solidFill>
                <a:latin typeface="Calibri"/>
              </a:rPr>
              <a:t>Existing overhead CCTV or wide-angle USB camera connected to central workstation.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Direct Streaming: </a:t>
            </a:r>
            <a:r>
              <a:rPr sz="1050">
                <a:solidFill>
                  <a:srgbClr val="475569"/>
                </a:solidFill>
                <a:latin typeface="Calibri"/>
              </a:rPr>
              <a:t>High-res 1080p stream over direct USB or local Ethernet (30+ FPS).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Zero Hardware Cost: </a:t>
            </a:r>
            <a:r>
              <a:rPr sz="1050">
                <a:solidFill>
                  <a:srgbClr val="475569"/>
                </a:solidFill>
                <a:latin typeface="Calibri"/>
              </a:rPr>
              <a:t>$0 additional hardware expense for educational institutions.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2563EB"/>
                </a:solidFill>
                <a:latin typeface="Calibri"/>
              </a:rPr>
              <a:t>AUTOMATED LAB CAMERA PROCTORING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Calibri"/>
              </a:rPr>
              <a:t>Cheating Behavior Taxonomy &amp; Visual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Taxonomy of Physical Malpractice in Computer Labs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1. Candidate Impersonation: </a:t>
            </a:r>
            <a:r>
              <a:rPr sz="1050">
                <a:solidFill>
                  <a:srgbClr val="475569"/>
                </a:solidFill>
                <a:latin typeface="Calibri"/>
              </a:rPr>
              <a:t>Unregistered individual seated at the candidate workstation -&gt; Flagged by FaceNet similarity &lt; 0.60.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2. Prohibited Electronic Gadgets: </a:t>
            </a:r>
            <a:r>
              <a:rPr sz="1050">
                <a:solidFill>
                  <a:srgbClr val="475569"/>
                </a:solidFill>
                <a:latin typeface="Calibri"/>
              </a:rPr>
              <a:t>Mobile phones or smartwatches visible on desk/hands -&gt; Flagged by YOLOv8-Nano.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3. Unauthorized Stationery / Cheat Sheets: </a:t>
            </a:r>
            <a:r>
              <a:rPr sz="1050">
                <a:solidFill>
                  <a:srgbClr val="475569"/>
                </a:solidFill>
                <a:latin typeface="Calibri"/>
              </a:rPr>
              <a:t>Notes or paper slips on desk -&gt; Flagged by fine-tuned YOLOv8-Nano.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Calibri"/>
              </a:rPr>
              <a:t>4. Suspicious Head Turning / Glance Sharing: </a:t>
            </a:r>
            <a:r>
              <a:rPr sz="1050">
                <a:solidFill>
                  <a:srgbClr val="475569"/>
                </a:solidFill>
                <a:latin typeface="Calibri"/>
              </a:rPr>
              <a:t>Head turned sideways (Yaw &gt; 35°) toward neighbor -&gt; Flagged by MediaPipe 3D Pose.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