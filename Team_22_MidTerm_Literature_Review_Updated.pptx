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5" r:id="rId2"/>
    <p:sldMasterId id="2147483677" r:id="rId3"/>
    <p:sldMasterId id="2147483679" r:id="rId4"/>
    <p:sldMasterId id="2147483682" r:id="rId5"/>
  </p:sldMasterIdLst>
  <p:notesMasterIdLst>
    <p:notesMasterId r:id="rId24"/>
  </p:notesMasterIdLst>
  <p:sldIdLst>
    <p:sldId id="264" r:id="rId6"/>
    <p:sldId id="257" r:id="rId7"/>
    <p:sldId id="270" r:id="rId8"/>
    <p:sldId id="258" r:id="rId9"/>
    <p:sldId id="262" r:id="rId10"/>
    <p:sldId id="271" r:id="rId11"/>
    <p:sldId id="265" r:id="rId12"/>
    <p:sldId id="266" r:id="rId13"/>
    <p:sldId id="267" r:id="rId14"/>
    <p:sldId id="272" r:id="rId15"/>
    <p:sldId id="273" r:id="rId16"/>
    <p:sldId id="268" r:id="rId17"/>
    <p:sldId id="274" r:id="rId18"/>
    <p:sldId id="269" r:id="rId19"/>
    <p:sldId id="275" r:id="rId20"/>
    <p:sldId id="276" r:id="rId21"/>
    <p:sldId id="277" r:id="rId22"/>
    <p:sldId id="278" r:id="rId23"/>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21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4EA6-8D6A-9334-3035-5EC9D84AC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4A776-F246-6433-1FB7-EBB96DE8D4F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9158BA7-0AA2-D577-22C6-216F12872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2C1870-1C04-01DA-E526-444D761C1B7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72298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D590A-6A3D-A8DF-587B-BB850D340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A324-150C-E477-DE39-1238BD99A8A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273FBA3-0F45-E83E-7499-8BEF9E28F5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E178D-7584-175D-CCF9-F8BE4FC0087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41876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637251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976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5072848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581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2780649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740140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362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8522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2643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17114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94100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extLst>
      <p:ext uri="{BB962C8B-B14F-4D97-AF65-F5344CB8AC3E}">
        <p14:creationId xmlns:p14="http://schemas.microsoft.com/office/powerpoint/2010/main" val="18243775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6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1271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725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904825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981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4335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5876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41394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608045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93" name="Google Shape;893;p24"/>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618649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851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81538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937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915314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39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302390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type="title" preserve="1">
  <p:cSld name="1_Title Slid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360825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005526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51764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3658766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50192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6229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89484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4131561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192663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70724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4537162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04129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pPr lvl="0"/>
            <a:r>
              <a:rPr lang="en-US"/>
              <a:t>Click to edit Master text styles</a:t>
            </a: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38241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theme" Target="../theme/theme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1276674073"/>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34286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96"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1044743740"/>
      </p:ext>
    </p:extLst>
  </p:cSld>
  <p:clrMap bg1="lt1" tx1="dk1" bg2="dk2" tx2="lt2" accent1="accent1" accent2="accent2" accent3="accent3" accent4="accent4" accent5="accent5" accent6="accent6" hlink="hlink" folHlink="folHlink"/>
  <p:sldLayoutIdLst>
    <p:sldLayoutId id="2147483678" r:id="rId1"/>
    <p:sldLayoutId id="214748369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3106833427"/>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52156829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hyperlink" Target="https://github.com/Mahalingam-S/Research-Methodology" TargetMode="Externa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github.com/Mahalingam-S/Research-Methodology" TargetMode="External"/><Relationship Id="rId4" Type="http://schemas.openxmlformats.org/officeDocument/2006/relationships/image" Target="../media/image3.jpe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DAD87F-B5D0-FCEA-7BE9-A6D4CFDB34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8A41BAB-4A21-2F65-9B4A-D6C1F9469FCC}"/>
              </a:ext>
            </a:extLst>
          </p:cNvPr>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6" name="Text 4">
            <a:extLst>
              <a:ext uri="{FF2B5EF4-FFF2-40B4-BE49-F238E27FC236}">
                <a16:creationId xmlns:a16="http://schemas.microsoft.com/office/drawing/2014/main" id="{7655A980-4B6D-6DC6-C3A7-4AA14DA2A280}"/>
              </a:ext>
            </a:extLst>
          </p:cNvPr>
          <p:cNvSpPr/>
          <p:nvPr/>
        </p:nvSpPr>
        <p:spPr>
          <a:xfrm>
            <a:off x="361950" y="1040545"/>
            <a:ext cx="12724257" cy="360132"/>
          </a:xfrm>
          <a:prstGeom prst="rect">
            <a:avLst/>
          </a:prstGeom>
          <a:noFill/>
          <a:ln/>
        </p:spPr>
        <p:txBody>
          <a:bodyPr wrap="square" rtlCol="0" anchor="ctr"/>
          <a:lstStyle/>
          <a:p>
            <a:pPr marL="0" indent="0">
              <a:buNone/>
            </a:pPr>
            <a:r>
              <a:rPr lang="en-US" sz="1600" b="1" dirty="0">
                <a:solidFill>
                  <a:srgbClr val="FF0000"/>
                </a:solidFill>
                <a:latin typeface="Calibri" pitchFamily="34" charset="0"/>
                <a:ea typeface="Calibri" pitchFamily="34" charset="-122"/>
                <a:cs typeface="Calibri" pitchFamily="34" charset="-120"/>
              </a:rPr>
              <a:t>Group No:  22                                                                                                                                                                                  Category: </a:t>
            </a:r>
            <a:r>
              <a:rPr lang="en-US" sz="1600" dirty="0">
                <a:solidFill>
                  <a:schemeClr val="tx1"/>
                </a:solidFill>
                <a:latin typeface="Calibri" pitchFamily="34" charset="0"/>
                <a:ea typeface="Calibri" pitchFamily="34" charset="-122"/>
                <a:cs typeface="Calibri" pitchFamily="34" charset="-120"/>
              </a:rPr>
              <a:t>Research</a:t>
            </a:r>
            <a:endParaRPr lang="en-US" sz="1600" dirty="0">
              <a:solidFill>
                <a:schemeClr val="tx1"/>
              </a:solidFill>
            </a:endParaRPr>
          </a:p>
        </p:txBody>
      </p:sp>
      <p:sp>
        <p:nvSpPr>
          <p:cNvPr id="8" name="Text 6">
            <a:extLst>
              <a:ext uri="{FF2B5EF4-FFF2-40B4-BE49-F238E27FC236}">
                <a16:creationId xmlns:a16="http://schemas.microsoft.com/office/drawing/2014/main" id="{D3F70CAC-1322-1C90-52C8-F303B1F7537A}"/>
              </a:ext>
            </a:extLst>
          </p:cNvPr>
          <p:cNvSpPr/>
          <p:nvPr/>
        </p:nvSpPr>
        <p:spPr>
          <a:xfrm>
            <a:off x="615696" y="3488054"/>
            <a:ext cx="512064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COLLABORATOR</a:t>
            </a:r>
            <a:endParaRPr lang="en-US" dirty="0">
              <a:solidFill>
                <a:srgbClr val="FF0000"/>
              </a:solidFill>
            </a:endParaRPr>
          </a:p>
        </p:txBody>
      </p:sp>
      <p:sp>
        <p:nvSpPr>
          <p:cNvPr id="9" name="Text 7">
            <a:extLst>
              <a:ext uri="{FF2B5EF4-FFF2-40B4-BE49-F238E27FC236}">
                <a16:creationId xmlns:a16="http://schemas.microsoft.com/office/drawing/2014/main" id="{2E429E90-433C-2F29-9EED-FB75DD820FD9}"/>
              </a:ext>
            </a:extLst>
          </p:cNvPr>
          <p:cNvSpPr/>
          <p:nvPr/>
        </p:nvSpPr>
        <p:spPr>
          <a:xfrm>
            <a:off x="615696" y="3785694"/>
            <a:ext cx="5120640" cy="457200"/>
          </a:xfrm>
          <a:prstGeom prst="rect">
            <a:avLst/>
          </a:prstGeom>
          <a:noFill/>
          <a:ln/>
        </p:spPr>
        <p:txBody>
          <a:bodyPr wrap="square" rtlCol="0" anchor="t"/>
          <a:lstStyle/>
          <a:p>
            <a:pPr marL="0" indent="0">
              <a:buNone/>
            </a:pPr>
            <a:endParaRPr lang="en-US" sz="1600" dirty="0">
              <a:solidFill>
                <a:schemeClr val="tx1"/>
              </a:solidFill>
            </a:endParaRPr>
          </a:p>
        </p:txBody>
      </p:sp>
      <p:sp>
        <p:nvSpPr>
          <p:cNvPr id="11" name="Text 9">
            <a:extLst>
              <a:ext uri="{FF2B5EF4-FFF2-40B4-BE49-F238E27FC236}">
                <a16:creationId xmlns:a16="http://schemas.microsoft.com/office/drawing/2014/main" id="{D15E8890-4F5E-8A75-1B0E-0F56B57A862F}"/>
              </a:ext>
            </a:extLst>
          </p:cNvPr>
          <p:cNvSpPr/>
          <p:nvPr/>
        </p:nvSpPr>
        <p:spPr>
          <a:xfrm>
            <a:off x="7202261" y="3488054"/>
            <a:ext cx="521208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FACULTY GUIDE</a:t>
            </a:r>
            <a:endParaRPr lang="en-US" dirty="0">
              <a:solidFill>
                <a:srgbClr val="FF0000"/>
              </a:solidFill>
            </a:endParaRPr>
          </a:p>
        </p:txBody>
      </p:sp>
      <p:sp>
        <p:nvSpPr>
          <p:cNvPr id="12" name="Text 10">
            <a:extLst>
              <a:ext uri="{FF2B5EF4-FFF2-40B4-BE49-F238E27FC236}">
                <a16:creationId xmlns:a16="http://schemas.microsoft.com/office/drawing/2014/main" id="{BB016EED-0F06-1DC6-288A-29852BE76C74}"/>
              </a:ext>
            </a:extLst>
          </p:cNvPr>
          <p:cNvSpPr/>
          <p:nvPr/>
        </p:nvSpPr>
        <p:spPr>
          <a:xfrm>
            <a:off x="7202261" y="3785694"/>
            <a:ext cx="5212080" cy="457200"/>
          </a:xfrm>
          <a:prstGeom prst="rect">
            <a:avLst/>
          </a:prstGeom>
          <a:noFill/>
          <a:ln/>
        </p:spPr>
        <p:txBody>
          <a:bodyPr wrap="square" rtlCol="0" anchor="t"/>
          <a:lstStyle/>
          <a:p>
            <a:pPr marL="0" indent="0">
              <a:buNone/>
            </a:pPr>
            <a:r>
              <a:rPr lang="en-US" sz="1600" dirty="0">
                <a:solidFill>
                  <a:schemeClr val="tx1"/>
                </a:solidFill>
                <a:latin typeface="Calibri" pitchFamily="34" charset="0"/>
                <a:ea typeface="Calibri" pitchFamily="34" charset="-122"/>
                <a:cs typeface="Calibri" pitchFamily="34" charset="-120"/>
              </a:rPr>
              <a:t>Dr. T. Senthil Kumar, Professor, CSE Department</a:t>
            </a:r>
            <a:endParaRPr lang="en-US" sz="1600" dirty="0">
              <a:solidFill>
                <a:schemeClr val="tx1"/>
              </a:solidFill>
            </a:endParaRPr>
          </a:p>
        </p:txBody>
      </p:sp>
      <p:sp>
        <p:nvSpPr>
          <p:cNvPr id="16" name="Text 13">
            <a:extLst>
              <a:ext uri="{FF2B5EF4-FFF2-40B4-BE49-F238E27FC236}">
                <a16:creationId xmlns:a16="http://schemas.microsoft.com/office/drawing/2014/main" id="{364BABA9-0384-10AA-4E8B-CDBBC77ADE4A}"/>
              </a:ext>
            </a:extLst>
          </p:cNvPr>
          <p:cNvSpPr/>
          <p:nvPr/>
        </p:nvSpPr>
        <p:spPr>
          <a:xfrm>
            <a:off x="-185320" y="5157356"/>
            <a:ext cx="11274552" cy="502920"/>
          </a:xfrm>
          <a:prstGeom prst="rect">
            <a:avLst/>
          </a:prstGeom>
          <a:noFill/>
          <a:ln/>
        </p:spPr>
        <p:txBody>
          <a:bodyPr wrap="square" rtlCol="0" anchor="ctr"/>
          <a:lstStyle/>
          <a:p>
            <a:pPr marL="0" indent="0">
              <a:buNone/>
            </a:pPr>
            <a:r>
              <a:rPr lang="en-US" b="1" dirty="0">
                <a:solidFill>
                  <a:schemeClr val="tx1"/>
                </a:solidFill>
                <a:latin typeface="Calibri" pitchFamily="34" charset="0"/>
                <a:ea typeface="Calibri" pitchFamily="34" charset="-122"/>
                <a:cs typeface="Calibri" pitchFamily="34" charset="-120"/>
              </a:rPr>
              <a:t>                                                     </a:t>
            </a:r>
            <a:r>
              <a:rPr lang="en-US" b="1" dirty="0">
                <a:solidFill>
                  <a:srgbClr val="FF0000"/>
                </a:solidFill>
                <a:latin typeface="Calibri" pitchFamily="34" charset="0"/>
                <a:ea typeface="Calibri" pitchFamily="34" charset="-122"/>
                <a:cs typeface="Calibri" pitchFamily="34" charset="-120"/>
              </a:rPr>
              <a:t> GitHub Repository: </a:t>
            </a:r>
            <a:r>
              <a:rPr lang="en-US" b="1" dirty="0">
                <a:solidFill>
                  <a:srgbClr val="FF0000"/>
                </a:solidFill>
                <a:latin typeface="Calibri" pitchFamily="34" charset="0"/>
                <a:ea typeface="Calibri" pitchFamily="34" charset="-122"/>
                <a:cs typeface="Calibri" pitchFamily="34" charset="-120"/>
                <a:hlinkClick r:id="rId3"/>
              </a:rPr>
              <a:t>https://github.com/Mahalingam-S/Research-Methodology</a:t>
            </a:r>
            <a:r>
              <a:rPr lang="en-US" b="1" dirty="0">
                <a:solidFill>
                  <a:srgbClr val="FF0000"/>
                </a:solidFill>
                <a:latin typeface="Calibri" pitchFamily="34" charset="0"/>
                <a:ea typeface="Calibri" pitchFamily="34" charset="-122"/>
                <a:cs typeface="Calibri" pitchFamily="34" charset="-120"/>
              </a:rPr>
              <a:t>  </a:t>
            </a:r>
            <a:endParaRPr lang="en-US" sz="1200" u="sng" dirty="0">
              <a:solidFill>
                <a:srgbClr val="FF0000"/>
              </a:solidFill>
            </a:endParaRPr>
          </a:p>
        </p:txBody>
      </p:sp>
      <p:sp>
        <p:nvSpPr>
          <p:cNvPr id="17" name="Text 14">
            <a:extLst>
              <a:ext uri="{FF2B5EF4-FFF2-40B4-BE49-F238E27FC236}">
                <a16:creationId xmlns:a16="http://schemas.microsoft.com/office/drawing/2014/main" id="{59719C09-312C-9F23-D491-2CCB8C66BE83}"/>
              </a:ext>
            </a:extLst>
          </p:cNvPr>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a:extLst>
              <a:ext uri="{FF2B5EF4-FFF2-40B4-BE49-F238E27FC236}">
                <a16:creationId xmlns:a16="http://schemas.microsoft.com/office/drawing/2014/main" id="{74A79F45-C1CA-15AD-B111-ED294E14B72C}"/>
              </a:ext>
            </a:extLst>
          </p:cNvPr>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sp>
        <p:nvSpPr>
          <p:cNvPr id="20" name="TextBox 19">
            <a:extLst>
              <a:ext uri="{FF2B5EF4-FFF2-40B4-BE49-F238E27FC236}">
                <a16:creationId xmlns:a16="http://schemas.microsoft.com/office/drawing/2014/main" id="{A87F954D-C7DB-D757-0730-C089171AAA35}"/>
              </a:ext>
            </a:extLst>
          </p:cNvPr>
          <p:cNvSpPr txBox="1"/>
          <p:nvPr/>
        </p:nvSpPr>
        <p:spPr>
          <a:xfrm>
            <a:off x="2638425" y="5581726"/>
            <a:ext cx="12563856" cy="338554"/>
          </a:xfrm>
          <a:prstGeom prst="rect">
            <a:avLst/>
          </a:prstGeom>
          <a:noFill/>
        </p:spPr>
        <p:txBody>
          <a:bodyPr wrap="square">
            <a:spAutoFit/>
          </a:bodyPr>
          <a:lstStyle/>
          <a:p>
            <a:pPr fontAlgn="base"/>
            <a:r>
              <a:rPr lang="en-US" sz="1600" i="1" dirty="0">
                <a:solidFill>
                  <a:srgbClr val="FF0000"/>
                </a:solidFill>
                <a:latin typeface="Calibri" pitchFamily="34" charset="0"/>
                <a:ea typeface="Calibri" pitchFamily="34" charset="-122"/>
                <a:cs typeface="Calibri" pitchFamily="34" charset="-120"/>
              </a:rPr>
              <a:t>This presentation is prepared for</a:t>
            </a:r>
            <a:r>
              <a:rPr lang="en-US" i="1" dirty="0"/>
              <a:t> </a:t>
            </a:r>
            <a:r>
              <a:rPr lang="en-US" b="1" i="1" dirty="0">
                <a:solidFill>
                  <a:srgbClr val="FF0000"/>
                </a:solidFill>
              </a:rPr>
              <a:t>Course </a:t>
            </a:r>
            <a:r>
              <a:rPr lang="en-US" dirty="0">
                <a:solidFill>
                  <a:srgbClr val="FF0000"/>
                </a:solidFill>
              </a:rPr>
              <a:t>​- </a:t>
            </a:r>
            <a:r>
              <a:rPr lang="en-US" b="1" i="1" dirty="0">
                <a:solidFill>
                  <a:srgbClr val="FF0000"/>
                </a:solidFill>
              </a:rPr>
              <a:t>24RM604-Research Methodology </a:t>
            </a:r>
            <a:r>
              <a:rPr lang="en-US" dirty="0">
                <a:solidFill>
                  <a:srgbClr val="FF0000"/>
                </a:solidFill>
              </a:rPr>
              <a:t>​</a:t>
            </a:r>
          </a:p>
        </p:txBody>
      </p:sp>
      <p:pic>
        <p:nvPicPr>
          <p:cNvPr id="22" name="Picture 2" descr="Amrita Vishwa Vidyapeetham, Coimbatore: Courses, Fees ...">
            <a:extLst>
              <a:ext uri="{FF2B5EF4-FFF2-40B4-BE49-F238E27FC236}">
                <a16:creationId xmlns:a16="http://schemas.microsoft.com/office/drawing/2014/main" id="{35E3FEBA-5775-D2B2-2B1A-F47976383DDE}"/>
              </a:ext>
            </a:extLst>
          </p:cNvPr>
          <p:cNvPicPr>
            <a:picLocks noChangeAspect="1" noChangeArrowheads="1"/>
          </p:cNvPicPr>
          <p:nvPr/>
        </p:nvPicPr>
        <p:blipFill>
          <a:blip r:embed="rId4"/>
          <a:srcRect/>
          <a:stretch>
            <a:fillRect/>
          </a:stretch>
        </p:blipFill>
        <p:spPr bwMode="auto">
          <a:xfrm>
            <a:off x="5451956" y="44605"/>
            <a:ext cx="965000" cy="943069"/>
          </a:xfrm>
          <a:prstGeom prst="rect">
            <a:avLst/>
          </a:prstGeom>
          <a:noFill/>
        </p:spPr>
      </p:pic>
      <p:sp>
        <p:nvSpPr>
          <p:cNvPr id="2" name="TextBox 1">
            <a:extLst>
              <a:ext uri="{FF2B5EF4-FFF2-40B4-BE49-F238E27FC236}">
                <a16:creationId xmlns:a16="http://schemas.microsoft.com/office/drawing/2014/main" id="{6DA495CD-99B0-BD71-5028-26169ED8D042}"/>
              </a:ext>
            </a:extLst>
          </p:cNvPr>
          <p:cNvSpPr txBox="1"/>
          <p:nvPr/>
        </p:nvSpPr>
        <p:spPr>
          <a:xfrm>
            <a:off x="6235908" y="5478905"/>
            <a:ext cx="184731" cy="307777"/>
          </a:xfrm>
          <a:prstGeom prst="rect">
            <a:avLst/>
          </a:prstGeom>
          <a:noFill/>
        </p:spPr>
        <p:txBody>
          <a:bodyPr wrap="none" rtlCol="0">
            <a:spAutoFit/>
          </a:bodyPr>
          <a:lstStyle/>
          <a:p>
            <a:endParaRPr lang="en-IN" dirty="0"/>
          </a:p>
        </p:txBody>
      </p:sp>
      <p:sp>
        <p:nvSpPr>
          <p:cNvPr id="13" name="TextBox 12">
            <a:extLst>
              <a:ext uri="{FF2B5EF4-FFF2-40B4-BE49-F238E27FC236}">
                <a16:creationId xmlns:a16="http://schemas.microsoft.com/office/drawing/2014/main" id="{738F233F-29B0-1D6F-D650-78D36DE0C291}"/>
              </a:ext>
            </a:extLst>
          </p:cNvPr>
          <p:cNvSpPr txBox="1"/>
          <p:nvPr/>
        </p:nvSpPr>
        <p:spPr>
          <a:xfrm>
            <a:off x="615696" y="1781051"/>
            <a:ext cx="10718307" cy="1015663"/>
          </a:xfrm>
          <a:prstGeom prst="rect">
            <a:avLst/>
          </a:prstGeom>
          <a:noFill/>
        </p:spPr>
        <p:txBody>
          <a:bodyPr wrap="square">
            <a:spAutoFit/>
          </a:bodyPr>
          <a:lstStyle/>
          <a:p>
            <a:pPr algn="ctr" fontAlgn="ctr">
              <a:buNone/>
            </a:pPr>
            <a:r>
              <a:rPr lang="en-IN" sz="2000" b="1" u="none" strike="noStrike" dirty="0">
                <a:solidFill>
                  <a:srgbClr val="FF0000"/>
                </a:solidFill>
                <a:effectLst/>
                <a:latin typeface="Times New Roman" panose="02020603050405020304" pitchFamily="18" charset="0"/>
                <a:cs typeface="Times New Roman" panose="02020603050405020304" pitchFamily="18" charset="0"/>
              </a:rPr>
              <a:t>AN AI FRAMEWORK FOR AUTOMATED EXAMINATION MONITORING USING FACIAL RECOGNITION, OBJECT DETECTION, AND SPATIAL-TEMPORAL BEHAVIOR ANALYSIS</a:t>
            </a:r>
            <a:endParaRPr lang="en-IN" sz="2000" b="1" i="0" u="none" strike="noStrike"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532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graphicFrame>
        <p:nvGraphicFramePr>
          <p:cNvPr id="14" name="Table 0"/>
          <p:cNvGraphicFramePr>
            <a:graphicFrameLocks noGrp="1"/>
          </p:cNvGraphicFramePr>
          <p:nvPr>
            <p:extLst>
              <p:ext uri="{D42A27DB-BD31-4B8C-83A1-F6EECF244321}">
                <p14:modId xmlns:p14="http://schemas.microsoft.com/office/powerpoint/2010/main" val="214204203"/>
              </p:ext>
            </p:extLst>
          </p:nvPr>
        </p:nvGraphicFramePr>
        <p:xfrm>
          <a:off x="367284" y="1114260"/>
          <a:ext cx="11457432" cy="4472724"/>
        </p:xfrm>
        <a:graphic>
          <a:graphicData uri="http://schemas.openxmlformats.org/drawingml/2006/table">
            <a:tbl>
              <a:tblPr/>
              <a:tblGrid>
                <a:gridCol w="1208002">
                  <a:extLst>
                    <a:ext uri="{9D8B030D-6E8A-4147-A177-3AD203B41FA5}">
                      <a16:colId xmlns:a16="http://schemas.microsoft.com/office/drawing/2014/main" val="20000"/>
                    </a:ext>
                  </a:extLst>
                </a:gridCol>
                <a:gridCol w="2137234">
                  <a:extLst>
                    <a:ext uri="{9D8B030D-6E8A-4147-A177-3AD203B41FA5}">
                      <a16:colId xmlns:a16="http://schemas.microsoft.com/office/drawing/2014/main" val="20001"/>
                    </a:ext>
                  </a:extLst>
                </a:gridCol>
                <a:gridCol w="1022155">
                  <a:extLst>
                    <a:ext uri="{9D8B030D-6E8A-4147-A177-3AD203B41FA5}">
                      <a16:colId xmlns:a16="http://schemas.microsoft.com/office/drawing/2014/main" val="20002"/>
                    </a:ext>
                  </a:extLst>
                </a:gridCol>
                <a:gridCol w="2787696">
                  <a:extLst>
                    <a:ext uri="{9D8B030D-6E8A-4147-A177-3AD203B41FA5}">
                      <a16:colId xmlns:a16="http://schemas.microsoft.com/office/drawing/2014/main" val="20003"/>
                    </a:ext>
                  </a:extLst>
                </a:gridCol>
                <a:gridCol w="1393848">
                  <a:extLst>
                    <a:ext uri="{9D8B030D-6E8A-4147-A177-3AD203B41FA5}">
                      <a16:colId xmlns:a16="http://schemas.microsoft.com/office/drawing/2014/main" val="20004"/>
                    </a:ext>
                  </a:extLst>
                </a:gridCol>
                <a:gridCol w="2908497">
                  <a:extLst>
                    <a:ext uri="{9D8B030D-6E8A-4147-A177-3AD203B41FA5}">
                      <a16:colId xmlns:a16="http://schemas.microsoft.com/office/drawing/2014/main" val="20005"/>
                    </a:ext>
                  </a:extLst>
                </a:gridCol>
              </a:tblGrid>
              <a:tr h="1118181">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Roll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Photo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Email ID</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Mobile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GitHub URL</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118181">
                <a:tc>
                  <a:txBody>
                    <a:bodyPr/>
                    <a:lstStyle/>
                    <a:p>
                      <a:pPr marL="0" indent="0" algn="ctr">
                        <a:buNone/>
                      </a:pPr>
                      <a:r>
                        <a:rPr lang="en-US" sz="1000" dirty="0">
                          <a:latin typeface="Calibri" charset="0"/>
                          <a:ea typeface="Calibri" charset="0"/>
                          <a:cs typeface="Calibri" charset="0"/>
                        </a:rPr>
                        <a:t>CB.SC.P2CSE26027</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solidFill>
                          <a:schemeClr val="tx1">
                            <a:lumMod val="95000"/>
                            <a:lumOff val="5000"/>
                          </a:schemeClr>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cb.sc.p2cse26027@cb.students.amrita.edu</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18181">
                <a:tc>
                  <a:txBody>
                    <a:bodyPr/>
                    <a:lstStyle/>
                    <a:p>
                      <a:pPr marL="0" indent="0" algn="ctr">
                        <a:buNone/>
                      </a:pPr>
                      <a:r>
                        <a:rPr lang="en-US" sz="1000" dirty="0">
                          <a:latin typeface="Calibri" charset="0"/>
                          <a:ea typeface="Calibri" charset="0"/>
                          <a:cs typeface="Calibri" charset="0"/>
                        </a:rPr>
                        <a:t>CB.SC.P2CSE26016</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Mahalingam Shanmugam</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Calibri" charset="0"/>
                          <a:ea typeface="Calibri" charset="0"/>
                          <a:cs typeface="Calibri" charset="0"/>
                        </a:rPr>
                        <a:t>cb.sc.p2cse26016@cb.students.amrita.edu</a:t>
                      </a:r>
                    </a:p>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8682007553</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hlinkClick r:id="rId3"/>
                        </a:rPr>
                        <a:t>https://github.com/Mahalingam-S/Research-Methodology</a:t>
                      </a:r>
                      <a:r>
                        <a:rPr lang="en-US" sz="1000" dirty="0">
                          <a:latin typeface="Calibri" charset="0"/>
                          <a:ea typeface="Calibri" charset="0"/>
                          <a:cs typeface="Calibri" charset="0"/>
                        </a:rPr>
                        <a:t> </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18181">
                <a:tc>
                  <a:txBody>
                    <a:bodyPr/>
                    <a:lstStyle/>
                    <a:p>
                      <a:pPr marL="0" indent="0" algn="ctr">
                        <a:buNone/>
                      </a:pPr>
                      <a:r>
                        <a:rPr lang="en-US" sz="1000" dirty="0">
                          <a:latin typeface="Calibri" charset="0"/>
                          <a:ea typeface="Calibri" charset="0"/>
                          <a:cs typeface="Calibri" charset="0"/>
                        </a:rPr>
                        <a:t>CB.SC.P2AIE26040</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Calibri" charset="0"/>
                          <a:ea typeface="Calibri" charset="0"/>
                          <a:cs typeface="Calibri" charset="0"/>
                        </a:rPr>
                        <a:t>cb.sc.p2aie26040@cb.students.amrita.edu</a:t>
                      </a:r>
                    </a:p>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pic>
        <p:nvPicPr>
          <p:cNvPr id="22" name="Picture 2" descr="Amrita Vishwa Vidyapeetham, Coimbatore: Courses, Fees ...">
            <a:extLst>
              <a:ext uri="{FF2B5EF4-FFF2-40B4-BE49-F238E27FC236}">
                <a16:creationId xmlns:a16="http://schemas.microsoft.com/office/drawing/2014/main" id="{8F23BC69-80AD-8BA8-BC5B-CEF206E32DE4}"/>
              </a:ext>
            </a:extLst>
          </p:cNvPr>
          <p:cNvPicPr>
            <a:picLocks noChangeAspect="1" noChangeArrowheads="1"/>
          </p:cNvPicPr>
          <p:nvPr/>
        </p:nvPicPr>
        <p:blipFill>
          <a:blip r:embed="rId4"/>
          <a:srcRect/>
          <a:stretch>
            <a:fillRect/>
          </a:stretch>
        </p:blipFill>
        <p:spPr bwMode="auto">
          <a:xfrm>
            <a:off x="5451956" y="44605"/>
            <a:ext cx="965000" cy="943069"/>
          </a:xfrm>
          <a:prstGeom prst="rect">
            <a:avLst/>
          </a:prstGeom>
          <a:noFill/>
        </p:spPr>
      </p:pic>
      <p:sp>
        <p:nvSpPr>
          <p:cNvPr id="2" name="TextBox 1">
            <a:extLst>
              <a:ext uri="{FF2B5EF4-FFF2-40B4-BE49-F238E27FC236}">
                <a16:creationId xmlns:a16="http://schemas.microsoft.com/office/drawing/2014/main" id="{699BF8A3-D40E-A7CF-C51B-BD1CBA89178B}"/>
              </a:ext>
            </a:extLst>
          </p:cNvPr>
          <p:cNvSpPr txBox="1"/>
          <p:nvPr/>
        </p:nvSpPr>
        <p:spPr>
          <a:xfrm>
            <a:off x="6235908" y="5478905"/>
            <a:ext cx="184731" cy="307777"/>
          </a:xfrm>
          <a:prstGeom prst="rect">
            <a:avLst/>
          </a:prstGeom>
          <a:noFill/>
        </p:spPr>
        <p:txBody>
          <a:bodyPr wrap="none" rtlCol="0">
            <a:spAutoFit/>
          </a:bodyPr>
          <a:lstStyle/>
          <a:p>
            <a:endParaRPr lang="en-IN" dirty="0"/>
          </a:p>
        </p:txBody>
      </p:sp>
      <p:pic>
        <p:nvPicPr>
          <p:cNvPr id="5" name="Picture 4">
            <a:extLst>
              <a:ext uri="{FF2B5EF4-FFF2-40B4-BE49-F238E27FC236}">
                <a16:creationId xmlns:a16="http://schemas.microsoft.com/office/drawing/2014/main" id="{033AF24C-6F05-C580-FB7D-5E2E280F7DC0}"/>
              </a:ext>
            </a:extLst>
          </p:cNvPr>
          <p:cNvPicPr>
            <a:picLocks noChangeAspect="1"/>
          </p:cNvPicPr>
          <p:nvPr/>
        </p:nvPicPr>
        <p:blipFill>
          <a:blip r:embed="rId5"/>
          <a:stretch>
            <a:fillRect/>
          </a:stretch>
        </p:blipFill>
        <p:spPr>
          <a:xfrm>
            <a:off x="3812875" y="3492260"/>
            <a:ext cx="793631" cy="7936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ACAD12-353C-B414-020A-8644D3E82F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9804C5-A273-99E0-D64D-FCE67B768E22}"/>
              </a:ext>
            </a:extLst>
          </p:cNvPr>
          <p:cNvSpPr/>
          <p:nvPr/>
        </p:nvSpPr>
        <p:spPr>
          <a:xfrm>
            <a:off x="464820" y="221426"/>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Introduction:</a:t>
            </a:r>
            <a:endParaRPr lang="en-US" sz="3000" dirty="0">
              <a:solidFill>
                <a:srgbClr val="FF0000"/>
              </a:solidFill>
            </a:endParaRPr>
          </a:p>
        </p:txBody>
      </p:sp>
      <p:sp>
        <p:nvSpPr>
          <p:cNvPr id="3" name="Text 1">
            <a:extLst>
              <a:ext uri="{FF2B5EF4-FFF2-40B4-BE49-F238E27FC236}">
                <a16:creationId xmlns:a16="http://schemas.microsoft.com/office/drawing/2014/main" id="{89E292BE-2A40-69CB-256B-B001FB874D27}"/>
              </a:ext>
            </a:extLst>
          </p:cNvPr>
          <p:cNvSpPr/>
          <p:nvPr/>
        </p:nvSpPr>
        <p:spPr>
          <a:xfrm>
            <a:off x="457200" y="960120"/>
            <a:ext cx="5486400" cy="914400"/>
          </a:xfrm>
          <a:prstGeom prst="rect">
            <a:avLst/>
          </a:prstGeom>
          <a:noFill/>
          <a:ln/>
        </p:spPr>
        <p:txBody>
          <a:bodyPr wrap="square" rtlCol="0" anchor="ctr"/>
          <a:lstStyle/>
          <a:p>
            <a:pPr marL="0" indent="0">
              <a:buNone/>
            </a:pPr>
            <a:endParaRPr lang="en-US" sz="1200" dirty="0">
              <a:solidFill>
                <a:srgbClr val="FF0000"/>
              </a:solidFill>
            </a:endParaRPr>
          </a:p>
        </p:txBody>
      </p:sp>
      <p:sp>
        <p:nvSpPr>
          <p:cNvPr id="5" name="Text 3">
            <a:extLst>
              <a:ext uri="{FF2B5EF4-FFF2-40B4-BE49-F238E27FC236}">
                <a16:creationId xmlns:a16="http://schemas.microsoft.com/office/drawing/2014/main" id="{80A59EEE-F929-7418-6524-C7A8EE014937}"/>
              </a:ext>
            </a:extLst>
          </p:cNvPr>
          <p:cNvSpPr/>
          <p:nvPr/>
        </p:nvSpPr>
        <p:spPr>
          <a:xfrm>
            <a:off x="4572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7" name="Text 5">
            <a:extLst>
              <a:ext uri="{FF2B5EF4-FFF2-40B4-BE49-F238E27FC236}">
                <a16:creationId xmlns:a16="http://schemas.microsoft.com/office/drawing/2014/main" id="{8DFFC5CD-049A-41B7-FD8C-D979F846421D}"/>
              </a:ext>
            </a:extLst>
          </p:cNvPr>
          <p:cNvSpPr/>
          <p:nvPr/>
        </p:nvSpPr>
        <p:spPr>
          <a:xfrm>
            <a:off x="1005840" y="2468880"/>
            <a:ext cx="4846320" cy="640080"/>
          </a:xfrm>
          <a:prstGeom prst="rect">
            <a:avLst/>
          </a:prstGeom>
          <a:noFill/>
          <a:ln/>
        </p:spPr>
        <p:txBody>
          <a:bodyPr wrap="square" rtlCol="0" anchor="ctr"/>
          <a:lstStyle/>
          <a:p>
            <a:pPr marL="0" indent="0">
              <a:buNone/>
            </a:pPr>
            <a:endParaRPr lang="en-US" sz="1200" dirty="0">
              <a:solidFill>
                <a:srgbClr val="FF0000"/>
              </a:solidFill>
            </a:endParaRPr>
          </a:p>
        </p:txBody>
      </p:sp>
      <p:sp>
        <p:nvSpPr>
          <p:cNvPr id="9" name="Text 7">
            <a:extLst>
              <a:ext uri="{FF2B5EF4-FFF2-40B4-BE49-F238E27FC236}">
                <a16:creationId xmlns:a16="http://schemas.microsoft.com/office/drawing/2014/main" id="{DE0B1F89-9D78-AB49-3D71-50E43966F2E3}"/>
              </a:ext>
            </a:extLst>
          </p:cNvPr>
          <p:cNvSpPr/>
          <p:nvPr/>
        </p:nvSpPr>
        <p:spPr>
          <a:xfrm>
            <a:off x="4572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1" name="Text 9">
            <a:extLst>
              <a:ext uri="{FF2B5EF4-FFF2-40B4-BE49-F238E27FC236}">
                <a16:creationId xmlns:a16="http://schemas.microsoft.com/office/drawing/2014/main" id="{076A0670-4C83-DEC5-2E53-BDDBB8DFE957}"/>
              </a:ext>
            </a:extLst>
          </p:cNvPr>
          <p:cNvSpPr/>
          <p:nvPr/>
        </p:nvSpPr>
        <p:spPr>
          <a:xfrm>
            <a:off x="1005840" y="3749040"/>
            <a:ext cx="4846320" cy="1371600"/>
          </a:xfrm>
          <a:prstGeom prst="rect">
            <a:avLst/>
          </a:prstGeom>
          <a:noFill/>
          <a:ln/>
        </p:spPr>
        <p:txBody>
          <a:bodyPr wrap="square" rtlCol="0" anchor="ctr"/>
          <a:lstStyle/>
          <a:p>
            <a:pPr marL="342900" indent="-342900">
              <a:spcAft>
                <a:spcPts val="600"/>
              </a:spcAft>
              <a:buSzPct val="100000"/>
              <a:buChar char="•"/>
            </a:pPr>
            <a:endParaRPr lang="en-US" sz="1200" dirty="0">
              <a:solidFill>
                <a:srgbClr val="FF0000"/>
              </a:solidFill>
            </a:endParaRPr>
          </a:p>
        </p:txBody>
      </p:sp>
      <p:sp>
        <p:nvSpPr>
          <p:cNvPr id="15" name="Text 13">
            <a:extLst>
              <a:ext uri="{FF2B5EF4-FFF2-40B4-BE49-F238E27FC236}">
                <a16:creationId xmlns:a16="http://schemas.microsoft.com/office/drawing/2014/main" id="{0EB9FAC6-2BDA-9CC2-0BCB-2442DC55D957}"/>
              </a:ext>
            </a:extLst>
          </p:cNvPr>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a:extLst>
              <a:ext uri="{FF2B5EF4-FFF2-40B4-BE49-F238E27FC236}">
                <a16:creationId xmlns:a16="http://schemas.microsoft.com/office/drawing/2014/main" id="{4F5B3D1E-1648-F579-124F-174B76C87574}"/>
              </a:ext>
            </a:extLst>
          </p:cNvPr>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a:extLst>
              <a:ext uri="{FF2B5EF4-FFF2-40B4-BE49-F238E27FC236}">
                <a16:creationId xmlns:a16="http://schemas.microsoft.com/office/drawing/2014/main" id="{72DB7FDE-9B28-41BB-7702-11D30384CE71}"/>
              </a:ext>
            </a:extLst>
          </p:cNvPr>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a:extLst>
              <a:ext uri="{FF2B5EF4-FFF2-40B4-BE49-F238E27FC236}">
                <a16:creationId xmlns:a16="http://schemas.microsoft.com/office/drawing/2014/main" id="{274BB5EA-4E4C-D783-22CA-1895B9963921}"/>
              </a:ext>
            </a:extLst>
          </p:cNvPr>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a:extLst>
              <a:ext uri="{FF2B5EF4-FFF2-40B4-BE49-F238E27FC236}">
                <a16:creationId xmlns:a16="http://schemas.microsoft.com/office/drawing/2014/main" id="{C16F43D1-5F12-39CF-61B6-4FF231E7B434}"/>
              </a:ext>
            </a:extLst>
          </p:cNvPr>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sp>
        <p:nvSpPr>
          <p:cNvPr id="8" name="TextBox 7">
            <a:extLst>
              <a:ext uri="{FF2B5EF4-FFF2-40B4-BE49-F238E27FC236}">
                <a16:creationId xmlns:a16="http://schemas.microsoft.com/office/drawing/2014/main" id="{04BF719C-25F2-DEE6-C350-DFD2EBACACC6}"/>
              </a:ext>
            </a:extLst>
          </p:cNvPr>
          <p:cNvSpPr txBox="1"/>
          <p:nvPr/>
        </p:nvSpPr>
        <p:spPr>
          <a:xfrm>
            <a:off x="464820" y="600306"/>
            <a:ext cx="11269980" cy="5565947"/>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In higher education institutions, maintaining academic integrity during laboratory assessments and computer-based examinations is an important requirement. Conventional invigilation largely depends on human proctors to continuously monitor students throughout the examination. However, this approach can become challenging in large laboratory environments containing multiple computer workstations. Prolonged monitoring may increase the possibility of missed incidents, while advances in cheating methods have introduced challenges such as the use of smartphones, smartwatches, and other concealed electronic devices, as well as non-verbal communication between students. Furthermore, maintaining sufficient numbers of human invigilators for large-scale examinations can increase administrative and operational costs.</a:t>
            </a:r>
            <a:endParaRPr lang="en-IN" sz="24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48992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40030"/>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Problem Statement:</a:t>
            </a:r>
            <a:endParaRPr lang="en-US" sz="3000" dirty="0">
              <a:solidFill>
                <a:srgbClr val="FF0000"/>
              </a:solidFill>
            </a:endParaRPr>
          </a:p>
        </p:txBody>
      </p:sp>
      <p:sp>
        <p:nvSpPr>
          <p:cNvPr id="3" name="Text 1"/>
          <p:cNvSpPr/>
          <p:nvPr/>
        </p:nvSpPr>
        <p:spPr>
          <a:xfrm>
            <a:off x="457200" y="960120"/>
            <a:ext cx="5486400" cy="914400"/>
          </a:xfrm>
          <a:prstGeom prst="rect">
            <a:avLst/>
          </a:prstGeom>
          <a:noFill/>
          <a:ln/>
        </p:spPr>
        <p:txBody>
          <a:bodyPr wrap="square" rtlCol="0" anchor="ctr"/>
          <a:lstStyle/>
          <a:p>
            <a:pPr marL="0" indent="0">
              <a:buNone/>
            </a:pPr>
            <a:endParaRPr lang="en-US" sz="1200" dirty="0">
              <a:solidFill>
                <a:srgbClr val="FF0000"/>
              </a:solidFill>
            </a:endParaRPr>
          </a:p>
        </p:txBody>
      </p:sp>
      <p:sp>
        <p:nvSpPr>
          <p:cNvPr id="5" name="Text 3"/>
          <p:cNvSpPr/>
          <p:nvPr/>
        </p:nvSpPr>
        <p:spPr>
          <a:xfrm>
            <a:off x="4572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7" name="Text 5"/>
          <p:cNvSpPr/>
          <p:nvPr/>
        </p:nvSpPr>
        <p:spPr>
          <a:xfrm>
            <a:off x="1005840" y="2468880"/>
            <a:ext cx="4846320" cy="640080"/>
          </a:xfrm>
          <a:prstGeom prst="rect">
            <a:avLst/>
          </a:prstGeom>
          <a:noFill/>
          <a:ln/>
        </p:spPr>
        <p:txBody>
          <a:bodyPr wrap="square" rtlCol="0" anchor="ctr"/>
          <a:lstStyle/>
          <a:p>
            <a:pPr marL="0" indent="0">
              <a:buNone/>
            </a:pPr>
            <a:endParaRPr lang="en-US" sz="1200" dirty="0">
              <a:solidFill>
                <a:srgbClr val="FF0000"/>
              </a:solidFill>
            </a:endParaRPr>
          </a:p>
        </p:txBody>
      </p:sp>
      <p:sp>
        <p:nvSpPr>
          <p:cNvPr id="9" name="Text 7"/>
          <p:cNvSpPr/>
          <p:nvPr/>
        </p:nvSpPr>
        <p:spPr>
          <a:xfrm>
            <a:off x="4572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1" name="Text 9"/>
          <p:cNvSpPr/>
          <p:nvPr/>
        </p:nvSpPr>
        <p:spPr>
          <a:xfrm>
            <a:off x="1005840" y="3749040"/>
            <a:ext cx="4846320" cy="1371600"/>
          </a:xfrm>
          <a:prstGeom prst="rect">
            <a:avLst/>
          </a:prstGeom>
          <a:noFill/>
          <a:ln/>
        </p:spPr>
        <p:txBody>
          <a:bodyPr wrap="square" rtlCol="0" anchor="ctr"/>
          <a:lstStyle/>
          <a:p>
            <a:pPr marL="342900" indent="-342900">
              <a:spcAft>
                <a:spcPts val="600"/>
              </a:spcAft>
              <a:buSzPct val="100000"/>
              <a:buChar char="•"/>
            </a:pPr>
            <a:endParaRPr lang="en-US" sz="1200" dirty="0">
              <a:solidFill>
                <a:srgbClr val="FF0000"/>
              </a:solidFill>
            </a:endParaRPr>
          </a:p>
        </p:txBody>
      </p:sp>
      <p:sp>
        <p:nvSpPr>
          <p:cNvPr id="15" name="Text 13"/>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sp>
        <p:nvSpPr>
          <p:cNvPr id="8" name="TextBox 7">
            <a:extLst>
              <a:ext uri="{FF2B5EF4-FFF2-40B4-BE49-F238E27FC236}">
                <a16:creationId xmlns:a16="http://schemas.microsoft.com/office/drawing/2014/main" id="{61EBA826-CD66-BCEB-491C-AEFA795371B0}"/>
              </a:ext>
            </a:extLst>
          </p:cNvPr>
          <p:cNvSpPr txBox="1"/>
          <p:nvPr/>
        </p:nvSpPr>
        <p:spPr>
          <a:xfrm>
            <a:off x="501626" y="689067"/>
            <a:ext cx="10834777" cy="6119945"/>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Maintaining academic integrity during computer-based laboratory examinations is challenging when a limited number of invigilators must monitor many students simultaneously. In a large computer laboratory, it is difficult for human invigilators to continuously observe every workstation throughout the examination. Students may use prohibited objects such as mobile phones, books, papers, or smart devices, or may communicate with nearby students without being noticed immediately.</a:t>
            </a:r>
          </a:p>
          <a:p>
            <a:pPr algn="just">
              <a:lnSpc>
                <a:spcPct val="150000"/>
              </a:lnSpc>
            </a:pPr>
            <a:r>
              <a:rPr lang="en-IN" sz="2400" dirty="0">
                <a:latin typeface="Times New Roman" panose="02020603050405020304" pitchFamily="18" charset="0"/>
                <a:cs typeface="Times New Roman" panose="02020603050405020304" pitchFamily="18" charset="0"/>
              </a:rPr>
              <a:t>Traditional monitoring mainly depends on continuous human observation, which can result in missed suspicious activities, particularly when many students are present.</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8">
            <a:extLst>
              <a:ext uri="{FF2B5EF4-FFF2-40B4-BE49-F238E27FC236}">
                <a16:creationId xmlns:a16="http://schemas.microsoft.com/office/drawing/2014/main" id="{660280E6-5773-9942-3313-3EF468D31A1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
        <p:nvSpPr>
          <p:cNvPr id="3" name="TextBox 2">
            <a:extLst>
              <a:ext uri="{FF2B5EF4-FFF2-40B4-BE49-F238E27FC236}">
                <a16:creationId xmlns:a16="http://schemas.microsoft.com/office/drawing/2014/main" id="{278E1463-8445-E332-52C5-D2DD07C09D29}"/>
              </a:ext>
            </a:extLst>
          </p:cNvPr>
          <p:cNvSpPr txBox="1"/>
          <p:nvPr/>
        </p:nvSpPr>
        <p:spPr>
          <a:xfrm>
            <a:off x="524163" y="646981"/>
            <a:ext cx="10802320"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Therefore, there is a need for an AI-assisted examination monitoring system that can automatically identify predefined suspicious activities from laboratory surveillance cameras and notify the invigilator for further verification.</a:t>
            </a:r>
          </a:p>
          <a:p>
            <a:pPr algn="just">
              <a:lnSpc>
                <a:spcPct val="150000"/>
              </a:lnSpc>
            </a:pPr>
            <a:r>
              <a:rPr lang="en-IN" sz="2400" dirty="0">
                <a:latin typeface="Times New Roman" panose="02020603050405020304" pitchFamily="18" charset="0"/>
                <a:cs typeface="Times New Roman" panose="02020603050405020304" pitchFamily="18" charset="0"/>
              </a:rPr>
              <a:t>The proposed system focuses on detecting physical malpractice indicators such as prohibited objects, unusual student movements, and potential communication between candidates. Instead of replacing human invigilators, the system is intended to act as an intelligent monitoring assistant that reduces their monitoring burden and provides recorded evidence of detected events for subsequent review.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345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B53EF865-AB9F-1428-7F93-B034157382FC}"/>
              </a:ext>
            </a:extLst>
          </p:cNvPr>
          <p:cNvSpPr/>
          <p:nvPr/>
        </p:nvSpPr>
        <p:spPr>
          <a:xfrm>
            <a:off x="610427" y="484500"/>
            <a:ext cx="4572000"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SDG </a:t>
            </a:r>
          </a:p>
        </p:txBody>
      </p:sp>
      <p:sp>
        <p:nvSpPr>
          <p:cNvPr id="5" name="TextBox 4">
            <a:extLst>
              <a:ext uri="{FF2B5EF4-FFF2-40B4-BE49-F238E27FC236}">
                <a16:creationId xmlns:a16="http://schemas.microsoft.com/office/drawing/2014/main" id="{2FE0E198-9FB4-98BE-5F73-85B3B100DEE8}"/>
              </a:ext>
            </a:extLst>
          </p:cNvPr>
          <p:cNvSpPr txBox="1"/>
          <p:nvPr/>
        </p:nvSpPr>
        <p:spPr>
          <a:xfrm>
            <a:off x="610427" y="1112808"/>
            <a:ext cx="10638418" cy="2795958"/>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SDG 4 – Quality Education </a:t>
            </a:r>
            <a:endParaRPr lang="en-IN" sz="2400" dirty="0">
              <a:latin typeface="Times New Roman" panose="02020603050405020304" pitchFamily="18" charset="0"/>
              <a:cs typeface="Times New Roman" panose="02020603050405020304" pitchFamily="18" charset="0"/>
            </a:endParaRPr>
          </a:p>
          <a:p>
            <a:pPr>
              <a:lnSpc>
                <a:spcPct val="150000"/>
              </a:lnSpc>
              <a:buNone/>
            </a:pPr>
            <a:r>
              <a:rPr lang="en-IN" sz="2400" dirty="0">
                <a:latin typeface="Times New Roman" panose="02020603050405020304" pitchFamily="18" charset="0"/>
                <a:cs typeface="Times New Roman" panose="02020603050405020304" pitchFamily="18" charset="0"/>
              </a:rPr>
              <a:t>Our project promotes </a:t>
            </a:r>
            <a:r>
              <a:rPr lang="en-IN" sz="2400" b="1" dirty="0">
                <a:latin typeface="Times New Roman" panose="02020603050405020304" pitchFamily="18" charset="0"/>
                <a:cs typeface="Times New Roman" panose="02020603050405020304" pitchFamily="18" charset="0"/>
              </a:rPr>
              <a:t>quality and equitable education</a:t>
            </a:r>
            <a:r>
              <a:rPr lang="en-IN" sz="2400" dirty="0">
                <a:latin typeface="Times New Roman" panose="02020603050405020304" pitchFamily="18" charset="0"/>
                <a:cs typeface="Times New Roman" panose="02020603050405020304" pitchFamily="18" charset="0"/>
              </a:rPr>
              <a:t> by supporting academic integrity during computer-based examinations, assisting invigilators in identifying potential malpractice, and providing reliable evidence for reviewing suspicious examination events.</a:t>
            </a:r>
          </a:p>
        </p:txBody>
      </p:sp>
    </p:spTree>
    <p:extLst>
      <p:ext uri="{BB962C8B-B14F-4D97-AF65-F5344CB8AC3E}">
        <p14:creationId xmlns:p14="http://schemas.microsoft.com/office/powerpoint/2010/main" val="1492612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3FAB-A7AE-F650-E126-3B6AEC549F97}"/>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503D39EB-831E-53BA-DE8F-34CD6C329781}"/>
              </a:ext>
            </a:extLst>
          </p:cNvPr>
          <p:cNvSpPr/>
          <p:nvPr/>
        </p:nvSpPr>
        <p:spPr>
          <a:xfrm>
            <a:off x="524163" y="397948"/>
            <a:ext cx="11744325" cy="411480"/>
          </a:xfrm>
          <a:prstGeom prst="rect">
            <a:avLst/>
          </a:prstGeom>
          <a:noFill/>
          <a:ln/>
        </p:spPr>
        <p:txBody>
          <a:bodyPr wrap="square" rtlCol="0" anchor="ctr"/>
          <a:lstStyle/>
          <a:p>
            <a:r>
              <a:rPr b="1" sz="2400">
                <a:solidFill>
                  <a:srgbClr val="C00000"/>
                </a:solidFill>
              </a:rPr>
              <a:t>LITERATURE REVIEW</a:t>
            </a:r>
          </a:p>
        </p:txBody>
      </p:sp>
      <p:sp>
        <p:nvSpPr>
          <p:cNvPr id="6" name="TextBox 5"/>
          <p:cNvSpPr txBox="1"/>
          <p:nvPr/>
        </p:nvSpPr>
        <p:spPr>
          <a:xfrm>
            <a:off x="548640" y="1097280"/>
            <a:ext cx="11064240" cy="5486400"/>
          </a:xfrm>
          <a:prstGeom prst="rect">
            <a:avLst/>
          </a:prstGeom>
          <a:noFill/>
        </p:spPr>
        <p:txBody>
          <a:bodyPr wrap="square" tIns="91440" bIns="91440">
            <a:spAutoFit/>
          </a:bodyPr>
          <a:lstStyle/>
          <a:p>
            <a:pPr>
              <a:spcAft>
                <a:spcPts val="600"/>
              </a:spcAft>
            </a:pPr>
            <a:r>
              <a:rPr b="1" sz="1600">
                <a:solidFill>
                  <a:srgbClr val="002060"/>
                </a:solidFill>
              </a:rPr>
              <a:t>Smart CCTV Exam Monitoring to Detect and Alert Suspicious Activities Using Deep Transfer Learning</a:t>
            </a:r>
          </a:p>
          <a:p>
            <a:pPr>
              <a:spcAft>
                <a:spcPts val="500"/>
              </a:spcAft>
            </a:pPr>
            <a:r>
              <a:rPr b="1" sz="1300">
                <a:solidFill>
                  <a:srgbClr val="222222"/>
                </a:solidFill>
              </a:rPr>
              <a:t>Authors: </a:t>
            </a:r>
            <a:r>
              <a:rPr sz="1300">
                <a:solidFill>
                  <a:srgbClr val="333333"/>
                </a:solidFill>
              </a:rPr>
              <a:t>E. M. Imaha, R. D. I. Puspitasari, F. Q. Annisa, H. Prayogi, and I. Fitriyaningsih — Procedia Computer Science (Elsevier), 2025</a:t>
            </a:r>
          </a:p>
          <a:p>
            <a:pPr>
              <a:spcAft>
                <a:spcPts val="500"/>
              </a:spcAft>
            </a:pPr>
            <a:r>
              <a:rPr b="1" sz="1300">
                <a:solidFill>
                  <a:srgbClr val="222222"/>
                </a:solidFill>
              </a:rPr>
              <a:t>Methodology: </a:t>
            </a:r>
            <a:r>
              <a:rPr sz="1300">
                <a:solidFill>
                  <a:srgbClr val="333333"/>
                </a:solidFill>
              </a:rPr>
              <a:t>The study utilizes pre-installed overhead laboratory CCTV cameras and deep transfer learning to identify physical cheating postures from wide-angle room video streams without per-desk hardware.</a:t>
            </a:r>
          </a:p>
          <a:p>
            <a:pPr>
              <a:spcAft>
                <a:spcPts val="500"/>
              </a:spcAft>
            </a:pPr>
            <a:r>
              <a:rPr b="1" sz="1300">
                <a:solidFill>
                  <a:srgbClr val="222222"/>
                </a:solidFill>
              </a:rPr>
              <a:t>Algorithms Used: </a:t>
            </a:r>
            <a:r>
              <a:rPr sz="1300">
                <a:solidFill>
                  <a:srgbClr val="333333"/>
                </a:solidFill>
              </a:rPr>
              <a:t>Deep Transfer Learning, ResNet CNN Spatial Feature Extractor</a:t>
            </a:r>
          </a:p>
          <a:p>
            <a:pPr>
              <a:spcAft>
                <a:spcPts val="500"/>
              </a:spcAft>
            </a:pPr>
            <a:r>
              <a:rPr b="1" sz="1300">
                <a:solidFill>
                  <a:srgbClr val="222222"/>
                </a:solidFill>
              </a:rPr>
              <a:t>Dataset Used: </a:t>
            </a:r>
            <a:r>
              <a:rPr sz="1300">
                <a:solidFill>
                  <a:srgbClr val="333333"/>
                </a:solidFill>
              </a:rPr>
              <a:t>Overhead laboratory CCTV exam monitoring video dataset with simulated student malpractice.</a:t>
            </a:r>
          </a:p>
          <a:p>
            <a:pPr>
              <a:spcAft>
                <a:spcPts val="500"/>
              </a:spcAft>
            </a:pPr>
            <a:r>
              <a:rPr b="1" sz="1300">
                <a:solidFill>
                  <a:srgbClr val="222222"/>
                </a:solidFill>
              </a:rPr>
              <a:t>Evaluation Metrics: </a:t>
            </a:r>
            <a:r>
              <a:rPr sz="1300">
                <a:solidFill>
                  <a:srgbClr val="333333"/>
                </a:solidFill>
              </a:rPr>
              <a:t>High spatial classification accuracy and multi-candidate line-of-sight coverage across examination desks.</a:t>
            </a:r>
          </a:p>
          <a:p>
            <a:pPr>
              <a:spcAft>
                <a:spcPts val="500"/>
              </a:spcAft>
            </a:pPr>
            <a:r>
              <a:rPr b="1" sz="1300">
                <a:solidFill>
                  <a:srgbClr val="222222"/>
                </a:solidFill>
              </a:rPr>
              <a:t>Research Gap: </a:t>
            </a:r>
            <a:r>
              <a:rPr sz="1300">
                <a:solidFill>
                  <a:srgbClr val="333333"/>
                </a:solidFill>
              </a:rPr>
              <a:t>Does not integrate a multi-condition spatial-temporal rule engine to separate benign question self-reading from covert sideways talking, and lacks Explainable AI (XAI) feature visual attributions.</a:t>
            </a:r>
          </a:p>
        </p:txBody>
      </p:sp>
    </p:spTree>
    <p:extLst>
      <p:ext uri="{BB962C8B-B14F-4D97-AF65-F5344CB8AC3E}">
        <p14:creationId xmlns:p14="http://schemas.microsoft.com/office/powerpoint/2010/main" val="363928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7040-4092-F86D-B3DB-76305051B4A5}"/>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AB59CD36-CC48-C215-544F-B8543AC40958}"/>
              </a:ext>
            </a:extLst>
          </p:cNvPr>
          <p:cNvSpPr/>
          <p:nvPr/>
        </p:nvSpPr>
        <p:spPr>
          <a:xfrm>
            <a:off x="524163" y="434449"/>
            <a:ext cx="7857837" cy="411480"/>
          </a:xfrm>
          <a:prstGeom prst="rect">
            <a:avLst/>
          </a:prstGeom>
          <a:noFill/>
          <a:ln/>
        </p:spPr>
        <p:txBody>
          <a:bodyPr wrap="square" rtlCol="0" anchor="ctr"/>
          <a:lstStyle/>
          <a:p>
            <a:r>
              <a:rPr b="1" sz="2400">
                <a:solidFill>
                  <a:srgbClr val="C00000"/>
                </a:solidFill>
              </a:rPr>
              <a:t>LITERATURE REVIEW- Contd…</a:t>
            </a:r>
          </a:p>
        </p:txBody>
      </p:sp>
      <p:sp>
        <p:nvSpPr>
          <p:cNvPr id="6" name="TextBox 5"/>
          <p:cNvSpPr txBox="1"/>
          <p:nvPr/>
        </p:nvSpPr>
        <p:spPr>
          <a:xfrm>
            <a:off x="548640" y="1097280"/>
            <a:ext cx="11064240" cy="5486400"/>
          </a:xfrm>
          <a:prstGeom prst="rect">
            <a:avLst/>
          </a:prstGeom>
          <a:noFill/>
        </p:spPr>
        <p:txBody>
          <a:bodyPr wrap="square" tIns="91440" bIns="91440">
            <a:spAutoFit/>
          </a:bodyPr>
          <a:lstStyle/>
          <a:p>
            <a:pPr>
              <a:spcAft>
                <a:spcPts val="600"/>
              </a:spcAft>
            </a:pPr>
            <a:r>
              <a:rPr b="1" sz="1600">
                <a:solidFill>
                  <a:srgbClr val="002060"/>
                </a:solidFill>
              </a:rPr>
              <a:t>Online Exam Cheating Detection and Blockchain Trusted Deposit Based on YOLOv12</a:t>
            </a:r>
          </a:p>
          <a:p>
            <a:pPr>
              <a:spcAft>
                <a:spcPts val="500"/>
              </a:spcAft>
            </a:pPr>
            <a:r>
              <a:rPr b="1" sz="1300">
                <a:solidFill>
                  <a:srgbClr val="222222"/>
                </a:solidFill>
              </a:rPr>
              <a:t>Authors: </a:t>
            </a:r>
            <a:r>
              <a:rPr sz="1300">
                <a:solidFill>
                  <a:srgbClr val="333333"/>
                </a:solidFill>
              </a:rPr>
              <a:t>H. Wang, Z. Shukur, K. A. Z. Ariffin, R. Xiao, and L. Wang — Scientific Reports (Nature Portfolio), 2025</a:t>
            </a:r>
          </a:p>
          <a:p>
            <a:pPr>
              <a:spcAft>
                <a:spcPts val="500"/>
              </a:spcAft>
            </a:pPr>
            <a:r>
              <a:rPr b="1" sz="1300">
                <a:solidFill>
                  <a:srgbClr val="222222"/>
                </a:solidFill>
              </a:rPr>
              <a:t>Methodology: </a:t>
            </a:r>
            <a:r>
              <a:rPr sz="1300">
                <a:solidFill>
                  <a:srgbClr val="333333"/>
                </a:solidFill>
              </a:rPr>
              <a:t>The study combines a lightweight YOLOv12 deep detector for small desk gadgets with a Hyperledger Fabric blockchain and IPFS distributed storage to preserve immutable malpractice evidence.</a:t>
            </a:r>
          </a:p>
          <a:p>
            <a:pPr>
              <a:spcAft>
                <a:spcPts val="500"/>
              </a:spcAft>
            </a:pPr>
            <a:r>
              <a:rPr b="1" sz="1300">
                <a:solidFill>
                  <a:srgbClr val="222222"/>
                </a:solidFill>
              </a:rPr>
              <a:t>Algorithms Used: </a:t>
            </a:r>
            <a:r>
              <a:rPr sz="1300">
                <a:solidFill>
                  <a:srgbClr val="333333"/>
                </a:solidFill>
              </a:rPr>
              <a:t>Lightweight YOLOv12 (A2C2f backbone + C3Ghost head), Hyperledger Fabric Blockchain, IPFS</a:t>
            </a:r>
          </a:p>
          <a:p>
            <a:pPr>
              <a:spcAft>
                <a:spcPts val="500"/>
              </a:spcAft>
            </a:pPr>
            <a:r>
              <a:rPr b="1" sz="1300">
                <a:solidFill>
                  <a:srgbClr val="222222"/>
                </a:solidFill>
              </a:rPr>
              <a:t>Dataset Used: </a:t>
            </a:r>
            <a:r>
              <a:rPr sz="1300">
                <a:solidFill>
                  <a:srgbClr val="333333"/>
                </a:solidFill>
              </a:rPr>
              <a:t>Expanded exam gadget detection dataset (smartphones, smartwatches, unauthorized cheat notes).</a:t>
            </a:r>
          </a:p>
          <a:p>
            <a:pPr>
              <a:spcAft>
                <a:spcPts val="500"/>
              </a:spcAft>
            </a:pPr>
            <a:r>
              <a:rPr b="1" sz="1300">
                <a:solidFill>
                  <a:srgbClr val="222222"/>
                </a:solidFill>
              </a:rPr>
              <a:t>Evaluation Metrics: </a:t>
            </a:r>
            <a:r>
              <a:rPr sz="1300">
                <a:solidFill>
                  <a:srgbClr val="333333"/>
                </a:solidFill>
              </a:rPr>
              <a:t>Detection Accuracy — mAP@0.5: 98.23%, Precision: 93.77%, Real-time Speed: ≥25 FPS.</a:t>
            </a:r>
          </a:p>
          <a:p>
            <a:pPr>
              <a:spcAft>
                <a:spcPts val="500"/>
              </a:spcAft>
            </a:pPr>
            <a:r>
              <a:rPr b="1" sz="1300">
                <a:solidFill>
                  <a:srgbClr val="222222"/>
                </a:solidFill>
              </a:rPr>
              <a:t>Research Gap: </a:t>
            </a:r>
            <a:r>
              <a:rPr sz="1300">
                <a:solidFill>
                  <a:srgbClr val="333333"/>
                </a:solidFill>
              </a:rPr>
              <a:t>High server compute overhead; does not evaluate co-occurring behavioral context such as head pose angle (Yaw) or Mouth Aspect Ratio (MAR).</a:t>
            </a:r>
          </a:p>
        </p:txBody>
      </p:sp>
    </p:spTree>
    <p:extLst>
      <p:ext uri="{BB962C8B-B14F-4D97-AF65-F5344CB8AC3E}">
        <p14:creationId xmlns:p14="http://schemas.microsoft.com/office/powerpoint/2010/main" val="220662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06EA-55C6-F284-E450-FB1D0C7A59A5}"/>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7643F4D3-F28E-2B8D-5DDC-F3A47CCE974C}"/>
              </a:ext>
            </a:extLst>
          </p:cNvPr>
          <p:cNvSpPr/>
          <p:nvPr/>
        </p:nvSpPr>
        <p:spPr>
          <a:xfrm>
            <a:off x="524162" y="385440"/>
            <a:ext cx="7857837" cy="411480"/>
          </a:xfrm>
          <a:prstGeom prst="rect">
            <a:avLst/>
          </a:prstGeom>
          <a:noFill/>
          <a:ln/>
        </p:spPr>
        <p:txBody>
          <a:bodyPr wrap="square" rtlCol="0" anchor="ctr"/>
          <a:lstStyle/>
          <a:p>
            <a:r>
              <a:rPr b="1" sz="2400">
                <a:solidFill>
                  <a:srgbClr val="C00000"/>
                </a:solidFill>
              </a:rPr>
              <a:t>LITERATURE REVIEW- Contd…</a:t>
            </a:r>
            <a:endParaRPr lang="en-US" sz="2400" b="1" dirty="0">
              <a:solidFill>
                <a:srgbClr val="FF0000"/>
              </a:solidFill>
              <a:latin typeface="Cambria" pitchFamily="34" charset="0"/>
              <a:ea typeface="Cambria" pitchFamily="34" charset="-122"/>
            </a:endParaRPr>
          </a:p>
        </p:txBody>
      </p:sp>
      <p:sp>
        <p:nvSpPr>
          <p:cNvPr id="6" name="TextBox 5"/>
          <p:cNvSpPr txBox="1"/>
          <p:nvPr/>
        </p:nvSpPr>
        <p:spPr>
          <a:xfrm>
            <a:off x="548640" y="1097280"/>
            <a:ext cx="11064240" cy="5486400"/>
          </a:xfrm>
          <a:prstGeom prst="rect">
            <a:avLst/>
          </a:prstGeom>
          <a:noFill/>
        </p:spPr>
        <p:txBody>
          <a:bodyPr wrap="square" tIns="91440" bIns="91440">
            <a:spAutoFit/>
          </a:bodyPr>
          <a:lstStyle/>
          <a:p>
            <a:pPr>
              <a:spcAft>
                <a:spcPts val="600"/>
              </a:spcAft>
            </a:pPr>
            <a:r>
              <a:rPr b="1" sz="1600">
                <a:solidFill>
                  <a:srgbClr val="002060"/>
                </a:solidFill>
              </a:rPr>
              <a:t>A Comprehensive Review of the Changing Landscape of Academic Dishonesty in Automated Proctoring in the Era of Artificial Intelligence</a:t>
            </a:r>
          </a:p>
          <a:p>
            <a:pPr>
              <a:spcAft>
                <a:spcPts val="500"/>
              </a:spcAft>
            </a:pPr>
            <a:r>
              <a:rPr b="1" sz="1300">
                <a:solidFill>
                  <a:srgbClr val="222222"/>
                </a:solidFill>
              </a:rPr>
              <a:t>Authors: </a:t>
            </a:r>
            <a:r>
              <a:rPr sz="1300">
                <a:solidFill>
                  <a:srgbClr val="333333"/>
                </a:solidFill>
              </a:rPr>
              <a:t>M. Malhotra and I. Chhabra — Discover Education (Springer Nature), 2026</a:t>
            </a:r>
          </a:p>
          <a:p>
            <a:pPr>
              <a:spcAft>
                <a:spcPts val="500"/>
              </a:spcAft>
            </a:pPr>
            <a:r>
              <a:rPr b="1" sz="1300">
                <a:solidFill>
                  <a:srgbClr val="222222"/>
                </a:solidFill>
              </a:rPr>
              <a:t>Methodology: </a:t>
            </a:r>
            <a:r>
              <a:rPr sz="1300">
                <a:solidFill>
                  <a:srgbClr val="333333"/>
                </a:solidFill>
              </a:rPr>
              <a:t>The study provides a qualitative review establishing physical and digital cheating taxonomies and evaluating passive recording vs active multi-sensory AI proctoring architectures.</a:t>
            </a:r>
          </a:p>
          <a:p>
            <a:pPr>
              <a:spcAft>
                <a:spcPts val="500"/>
              </a:spcAft>
            </a:pPr>
            <a:r>
              <a:rPr b="1" sz="1300">
                <a:solidFill>
                  <a:srgbClr val="222222"/>
                </a:solidFill>
              </a:rPr>
              <a:t>Algorithms Used: </a:t>
            </a:r>
            <a:r>
              <a:rPr sz="1300">
                <a:solidFill>
                  <a:srgbClr val="333333"/>
                </a:solidFill>
              </a:rPr>
              <a:t>Qualitative Taxonomy Synthesis, Multi-Sensory Behavioral Mapping, Visual &amp; Audio Proctoring</a:t>
            </a:r>
          </a:p>
          <a:p>
            <a:pPr>
              <a:spcAft>
                <a:spcPts val="500"/>
              </a:spcAft>
            </a:pPr>
            <a:r>
              <a:rPr b="1" sz="1300">
                <a:solidFill>
                  <a:srgbClr val="222222"/>
                </a:solidFill>
              </a:rPr>
              <a:t>Dataset Used: </a:t>
            </a:r>
            <a:r>
              <a:rPr sz="1300">
                <a:solidFill>
                  <a:srgbClr val="333333"/>
                </a:solidFill>
              </a:rPr>
              <a:t>Comprehensive academic dishonesty literature database spanning 2008 to 2024 publications.</a:t>
            </a:r>
          </a:p>
          <a:p>
            <a:pPr>
              <a:spcAft>
                <a:spcPts val="500"/>
              </a:spcAft>
            </a:pPr>
            <a:r>
              <a:rPr b="1" sz="1300">
                <a:solidFill>
                  <a:srgbClr val="222222"/>
                </a:solidFill>
              </a:rPr>
              <a:t>Evaluation Metrics: </a:t>
            </a:r>
            <a:r>
              <a:rPr sz="1300">
                <a:solidFill>
                  <a:srgbClr val="333333"/>
                </a:solidFill>
              </a:rPr>
              <a:t>Qualitative taxonomy categorization across identity fraud, gadget concealment, gaze distraction, and peer talk.</a:t>
            </a:r>
          </a:p>
          <a:p>
            <a:pPr>
              <a:spcAft>
                <a:spcPts val="500"/>
              </a:spcAft>
            </a:pPr>
            <a:r>
              <a:rPr b="1" sz="1300">
                <a:solidFill>
                  <a:srgbClr val="222222"/>
                </a:solidFill>
              </a:rPr>
              <a:t>Research Gap: </a:t>
            </a:r>
            <a:r>
              <a:rPr sz="1300">
                <a:solidFill>
                  <a:srgbClr val="333333"/>
                </a:solidFill>
              </a:rPr>
              <a:t>Identifies two primary industry bottlenecks: (1) High per-desk equipment procurement costs, and (2) Opaque "Black-Box" AI decision alerts lacking explainability (XAI).</a:t>
            </a:r>
          </a:p>
        </p:txBody>
      </p:sp>
    </p:spTree>
    <p:extLst>
      <p:ext uri="{BB962C8B-B14F-4D97-AF65-F5344CB8AC3E}">
        <p14:creationId xmlns:p14="http://schemas.microsoft.com/office/powerpoint/2010/main" val="2486397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206FD4-A0E8-6236-4766-6A6AC5AE7C2C}"/>
              </a:ext>
            </a:extLst>
          </p:cNvPr>
          <p:cNvSpPr txBox="1"/>
          <p:nvPr/>
        </p:nvSpPr>
        <p:spPr>
          <a:xfrm>
            <a:off x="506083" y="295119"/>
            <a:ext cx="6094562" cy="584775"/>
          </a:xfrm>
          <a:prstGeom prst="rect">
            <a:avLst/>
          </a:prstGeom>
          <a:noFill/>
        </p:spPr>
        <p:txBody>
          <a:bodyPr wrap="square">
            <a:spAutoFit/>
          </a:bodyPr>
          <a:lstStyle/>
          <a:p>
            <a:r>
              <a:rPr b="1" sz="2400">
                <a:solidFill>
                  <a:srgbClr val="C00000"/>
                </a:solidFill>
              </a:rPr>
              <a:t>LITERATURE REVIEW- Contd…</a:t>
            </a:r>
            <a:endParaRPr lang="en-US" sz="2400" b="1" dirty="0">
              <a:solidFill>
                <a:srgbClr val="FF0000"/>
              </a:solidFill>
              <a:latin typeface="Cambria" pitchFamily="34" charset="0"/>
              <a:ea typeface="Cambria" pitchFamily="34" charset="-122"/>
            </a:endParaRPr>
          </a:p>
        </p:txBody>
      </p:sp>
      <p:sp>
        <p:nvSpPr>
          <p:cNvPr id="6" name="TextBox 5"/>
          <p:cNvSpPr txBox="1"/>
          <p:nvPr/>
        </p:nvSpPr>
        <p:spPr>
          <a:xfrm>
            <a:off x="548640" y="1097280"/>
            <a:ext cx="11064240" cy="5486400"/>
          </a:xfrm>
          <a:prstGeom prst="rect">
            <a:avLst/>
          </a:prstGeom>
          <a:noFill/>
        </p:spPr>
        <p:txBody>
          <a:bodyPr wrap="square" tIns="91440" bIns="91440">
            <a:spAutoFit/>
          </a:bodyPr>
          <a:lstStyle/>
          <a:p>
            <a:pPr>
              <a:spcAft>
                <a:spcPts val="600"/>
              </a:spcAft>
            </a:pPr>
            <a:r>
              <a:rPr b="1" sz="1600">
                <a:solidFill>
                  <a:srgbClr val="002060"/>
                </a:solidFill>
              </a:rPr>
              <a:t>Ensuring Academic Integrity Through Automated Online Exam Proctoring: A Decade Long Systematic Review</a:t>
            </a:r>
          </a:p>
          <a:p>
            <a:pPr>
              <a:spcAft>
                <a:spcPts val="500"/>
              </a:spcAft>
            </a:pPr>
            <a:r>
              <a:rPr b="1" sz="1300">
                <a:solidFill>
                  <a:srgbClr val="222222"/>
                </a:solidFill>
              </a:rPr>
              <a:t>Authors: </a:t>
            </a:r>
            <a:r>
              <a:rPr sz="1300">
                <a:solidFill>
                  <a:srgbClr val="333333"/>
                </a:solidFill>
              </a:rPr>
              <a:t>M. Malhotra and I. Chhabra — Discover Education (Springer Nature), 2026</a:t>
            </a:r>
          </a:p>
          <a:p>
            <a:pPr>
              <a:spcAft>
                <a:spcPts val="500"/>
              </a:spcAft>
            </a:pPr>
            <a:r>
              <a:rPr b="1" sz="1300">
                <a:solidFill>
                  <a:srgbClr val="222222"/>
                </a:solidFill>
              </a:rPr>
              <a:t>Methodology: </a:t>
            </a:r>
            <a:r>
              <a:rPr sz="1300">
                <a:solidFill>
                  <a:srgbClr val="333333"/>
                </a:solidFill>
              </a:rPr>
              <a:t>The study conducts a PRISMA systematic review of 80 peer-reviewed studies (2014–2024) analyzing facial authentication, gaze tracking, head pose rotation, and temporal decision fusion engines.</a:t>
            </a:r>
          </a:p>
          <a:p>
            <a:pPr>
              <a:spcAft>
                <a:spcPts val="500"/>
              </a:spcAft>
            </a:pPr>
            <a:r>
              <a:rPr b="1" sz="1300">
                <a:solidFill>
                  <a:srgbClr val="222222"/>
                </a:solidFill>
              </a:rPr>
              <a:t>Algorithms Used: </a:t>
            </a:r>
            <a:r>
              <a:rPr sz="1300">
                <a:solidFill>
                  <a:srgbClr val="333333"/>
                </a:solidFill>
              </a:rPr>
              <a:t>PRISMA Review Methodology, Biometric Verification, Head Pose Rotation, Moving Temporal Window / LSTM</a:t>
            </a:r>
          </a:p>
          <a:p>
            <a:pPr>
              <a:spcAft>
                <a:spcPts val="500"/>
              </a:spcAft>
            </a:pPr>
            <a:r>
              <a:rPr b="1" sz="1300">
                <a:solidFill>
                  <a:srgbClr val="222222"/>
                </a:solidFill>
              </a:rPr>
              <a:t>Dataset Used: </a:t>
            </a:r>
            <a:r>
              <a:rPr sz="1300">
                <a:solidFill>
                  <a:srgbClr val="333333"/>
                </a:solidFill>
              </a:rPr>
              <a:t>80 peer-reviewed international studies covering benchmark datasets (LFW, AFLW2000, BIWI).</a:t>
            </a:r>
          </a:p>
          <a:p>
            <a:pPr>
              <a:spcAft>
                <a:spcPts val="500"/>
              </a:spcAft>
            </a:pPr>
            <a:r>
              <a:rPr b="1" sz="1300">
                <a:solidFill>
                  <a:srgbClr val="222222"/>
                </a:solidFill>
              </a:rPr>
              <a:t>Evaluation Metrics: </a:t>
            </a:r>
            <a:r>
              <a:rPr sz="1300">
                <a:solidFill>
                  <a:srgbClr val="333333"/>
                </a:solidFill>
              </a:rPr>
              <a:t>Systematic evaluation of false-positive reduction, biometric accuracy, and temporal decision window performance.</a:t>
            </a:r>
          </a:p>
          <a:p>
            <a:pPr>
              <a:spcAft>
                <a:spcPts val="500"/>
              </a:spcAft>
            </a:pPr>
            <a:r>
              <a:rPr b="1" sz="1300">
                <a:solidFill>
                  <a:srgbClr val="222222"/>
                </a:solidFill>
              </a:rPr>
              <a:t>Research Gap: </a:t>
            </a:r>
            <a:r>
              <a:rPr sz="1300">
                <a:solidFill>
                  <a:srgbClr val="333333"/>
                </a:solidFill>
              </a:rPr>
              <a:t>The vast majority of 80 reviewed studies focus on isolated home webcams, neglecting institutional multi-candidate laboratory room surveillance.</a:t>
            </a:r>
          </a:p>
        </p:txBody>
      </p:sp>
    </p:spTree>
    <p:extLst>
      <p:ext uri="{BB962C8B-B14F-4D97-AF65-F5344CB8AC3E}">
        <p14:creationId xmlns:p14="http://schemas.microsoft.com/office/powerpoint/2010/main" val="235905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821268-045D-81EB-2689-A4E7A8B8DDA3}"/>
              </a:ext>
            </a:extLst>
          </p:cNvPr>
          <p:cNvSpPr txBox="1"/>
          <p:nvPr/>
        </p:nvSpPr>
        <p:spPr>
          <a:xfrm>
            <a:off x="491706" y="303745"/>
            <a:ext cx="6094562" cy="584775"/>
          </a:xfrm>
          <a:prstGeom prst="rect">
            <a:avLst/>
          </a:prstGeom>
          <a:noFill/>
        </p:spPr>
        <p:txBody>
          <a:bodyPr wrap="square">
            <a:spAutoFit/>
          </a:bodyPr>
          <a:lstStyle/>
          <a:p>
            <a:r>
              <a:rPr b="1" sz="2400">
                <a:solidFill>
                  <a:srgbClr val="C00000"/>
                </a:solidFill>
              </a:rPr>
              <a:t>LITERATURE REVIEW- Contd…</a:t>
            </a:r>
            <a:endParaRPr lang="en-US" sz="2400" b="1" dirty="0">
              <a:solidFill>
                <a:srgbClr val="FF0000"/>
              </a:solidFill>
              <a:latin typeface="Cambria" pitchFamily="34" charset="0"/>
              <a:ea typeface="Cambria" pitchFamily="34" charset="-122"/>
            </a:endParaRPr>
          </a:p>
        </p:txBody>
      </p:sp>
      <p:sp>
        <p:nvSpPr>
          <p:cNvPr id="6" name="TextBox 5"/>
          <p:cNvSpPr txBox="1"/>
          <p:nvPr/>
        </p:nvSpPr>
        <p:spPr>
          <a:xfrm>
            <a:off x="548640" y="1097280"/>
            <a:ext cx="11064240" cy="5486400"/>
          </a:xfrm>
          <a:prstGeom prst="rect">
            <a:avLst/>
          </a:prstGeom>
          <a:noFill/>
        </p:spPr>
        <p:txBody>
          <a:bodyPr wrap="square" tIns="91440" bIns="91440">
            <a:spAutoFit/>
          </a:bodyPr>
          <a:lstStyle/>
          <a:p>
            <a:pPr>
              <a:spcAft>
                <a:spcPts val="600"/>
              </a:spcAft>
            </a:pPr>
            <a:r>
              <a:rPr b="1" sz="1600">
                <a:solidFill>
                  <a:srgbClr val="002060"/>
                </a:solidFill>
              </a:rPr>
              <a:t>Development of a Multi-Facet Facial Recognition Model for Institutional Attendance Activities During Examination Scenario</a:t>
            </a:r>
          </a:p>
          <a:p>
            <a:pPr>
              <a:spcAft>
                <a:spcPts val="500"/>
              </a:spcAft>
            </a:pPr>
            <a:r>
              <a:rPr b="1" sz="1300">
                <a:solidFill>
                  <a:srgbClr val="222222"/>
                </a:solidFill>
              </a:rPr>
              <a:t>Authors: </a:t>
            </a:r>
            <a:r>
              <a:rPr sz="1300">
                <a:solidFill>
                  <a:srgbClr val="333333"/>
                </a:solidFill>
              </a:rPr>
              <a:t>K. E. Jack, V. S. Rizama, K. R. Adebayo, J. G. Ambafi, et al. — Discover Artificial Intelligence (Springer Nature), 2026</a:t>
            </a:r>
          </a:p>
          <a:p>
            <a:pPr>
              <a:spcAft>
                <a:spcPts val="500"/>
              </a:spcAft>
            </a:pPr>
            <a:r>
              <a:rPr b="1" sz="1300">
                <a:solidFill>
                  <a:srgbClr val="222222"/>
                </a:solidFill>
              </a:rPr>
              <a:t>Methodology: </a:t>
            </a:r>
            <a:r>
              <a:rPr sz="1300">
                <a:solidFill>
                  <a:srgbClr val="333333"/>
                </a:solidFill>
              </a:rPr>
              <a:t>The study constructs a robust multi-facet facial recognition model using deep feature vector extraction and KNN classification for student authentication under variable lighting and pose angles.</a:t>
            </a:r>
          </a:p>
          <a:p>
            <a:pPr>
              <a:spcAft>
                <a:spcPts val="500"/>
              </a:spcAft>
            </a:pPr>
            <a:r>
              <a:rPr b="1" sz="1300">
                <a:solidFill>
                  <a:srgbClr val="222222"/>
                </a:solidFill>
              </a:rPr>
              <a:t>Algorithms Used: </a:t>
            </a:r>
            <a:r>
              <a:rPr sz="1300">
                <a:solidFill>
                  <a:srgbClr val="333333"/>
                </a:solidFill>
              </a:rPr>
              <a:t>ResNet-based Deep Feature Vector Extraction, K-Nearest Neighbors (KNN) Classifier</a:t>
            </a:r>
          </a:p>
          <a:p>
            <a:pPr>
              <a:spcAft>
                <a:spcPts val="500"/>
              </a:spcAft>
            </a:pPr>
            <a:r>
              <a:rPr b="1" sz="1300">
                <a:solidFill>
                  <a:srgbClr val="222222"/>
                </a:solidFill>
              </a:rPr>
              <a:t>Dataset Used: </a:t>
            </a:r>
            <a:r>
              <a:rPr sz="1300">
                <a:solidFill>
                  <a:srgbClr val="333333"/>
                </a:solidFill>
              </a:rPr>
              <a:t>Institutional student facial recognition dataset with lighting shifts, facial accessories (glasses/masks), and pose variations.</a:t>
            </a:r>
          </a:p>
          <a:p>
            <a:pPr>
              <a:spcAft>
                <a:spcPts val="500"/>
              </a:spcAft>
            </a:pPr>
            <a:r>
              <a:rPr b="1" sz="1300">
                <a:solidFill>
                  <a:srgbClr val="222222"/>
                </a:solidFill>
              </a:rPr>
              <a:t>Evaluation Metrics: </a:t>
            </a:r>
            <a:r>
              <a:rPr sz="1300">
                <a:solidFill>
                  <a:srgbClr val="333333"/>
                </a:solidFill>
              </a:rPr>
              <a:t>Student Authentication Accuracy — 99.00% across variable lighting and head pose angles.</a:t>
            </a:r>
          </a:p>
          <a:p>
            <a:pPr>
              <a:spcAft>
                <a:spcPts val="500"/>
              </a:spcAft>
            </a:pPr>
            <a:r>
              <a:rPr b="1" sz="1300">
                <a:solidFill>
                  <a:srgbClr val="222222"/>
                </a:solidFill>
              </a:rPr>
              <a:t>Research Gap: </a:t>
            </a:r>
            <a:r>
              <a:rPr sz="1300">
                <a:solidFill>
                  <a:srgbClr val="333333"/>
                </a:solidFill>
              </a:rPr>
              <a:t>Primary focus is pre-exam identity authentication and attendance check-in, rather than continuous desk-level physical malpractice tracking during the examination.</a:t>
            </a:r>
          </a:p>
        </p:txBody>
      </p:sp>
    </p:spTree>
    <p:extLst>
      <p:ext uri="{BB962C8B-B14F-4D97-AF65-F5344CB8AC3E}">
        <p14:creationId xmlns:p14="http://schemas.microsoft.com/office/powerpoint/2010/main" val="219980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9E500-F6D2-3C3F-3B6C-C386FC44B6C2}"/>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E0F08B99-18E4-D853-CEBB-7F213B25C368}"/>
              </a:ext>
            </a:extLst>
          </p:cNvPr>
          <p:cNvSpPr/>
          <p:nvPr/>
        </p:nvSpPr>
        <p:spPr>
          <a:xfrm>
            <a:off x="644465" y="444126"/>
            <a:ext cx="11744325"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ALGORITHM                                                                                   </a:t>
            </a:r>
            <a:r>
              <a:rPr lang="en-US" sz="1600" i="1" dirty="0">
                <a:solidFill>
                  <a:schemeClr val="tx1"/>
                </a:solidFill>
                <a:latin typeface="Cambria" pitchFamily="34" charset="0"/>
                <a:ea typeface="Cambria" pitchFamily="34" charset="-122"/>
              </a:rPr>
              <a:t>CB.SC.P2CSE26016</a:t>
            </a:r>
          </a:p>
        </p:txBody>
      </p:sp>
      <p:sp>
        <p:nvSpPr>
          <p:cNvPr id="6" name="TextBox 5">
            <a:extLst>
              <a:ext uri="{FF2B5EF4-FFF2-40B4-BE49-F238E27FC236}">
                <a16:creationId xmlns:a16="http://schemas.microsoft.com/office/drawing/2014/main" id="{03263706-7A73-B167-1D7F-D746FA69025B}"/>
              </a:ext>
            </a:extLst>
          </p:cNvPr>
          <p:cNvSpPr txBox="1"/>
          <p:nvPr/>
        </p:nvSpPr>
        <p:spPr>
          <a:xfrm>
            <a:off x="644465" y="1092479"/>
            <a:ext cx="11744325" cy="354020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Physical Malpractice Detection</a:t>
            </a:r>
            <a:endParaRPr lang="en-IN" sz="2200" dirty="0">
              <a:latin typeface="Times New Roman" panose="02020603050405020304" pitchFamily="18" charset="0"/>
              <a:cs typeface="Times New Roman" panose="02020603050405020304" pitchFamily="18" charset="0"/>
            </a:endParaRPr>
          </a:p>
          <a:p>
            <a:pPr lvl="0">
              <a:lnSpc>
                <a:spcPct val="150000"/>
              </a:lnSpc>
            </a:pPr>
            <a:r>
              <a:rPr lang="en-IN" sz="2100" b="1" dirty="0">
                <a:latin typeface="Times New Roman" panose="02020603050405020304" pitchFamily="18" charset="0"/>
                <a:cs typeface="Times New Roman" panose="02020603050405020304" pitchFamily="18" charset="0"/>
              </a:rPr>
              <a:t>ResNet50V2 + LSTM</a:t>
            </a:r>
            <a:r>
              <a:rPr lang="en-IN" sz="2200" b="1" dirty="0">
                <a:latin typeface="Times New Roman" panose="02020603050405020304" pitchFamily="18" charset="0"/>
                <a:cs typeface="Times New Roman" panose="02020603050405020304" pitchFamily="18" charset="0"/>
              </a:rPr>
              <a:t>:</a:t>
            </a:r>
          </a:p>
          <a:p>
            <a:pPr lvl="0">
              <a:lnSpc>
                <a:spcPct val="150000"/>
              </a:lnSpc>
            </a:pPr>
            <a:r>
              <a:rPr lang="en-IN" sz="2200" dirty="0">
                <a:latin typeface="Times New Roman" panose="02020603050405020304" pitchFamily="18" charset="0"/>
                <a:cs typeface="Times New Roman" panose="02020603050405020304" pitchFamily="18" charset="0"/>
              </a:rPr>
              <a:t>Used to understand student activities from CCTV video over a sequence of frames. </a:t>
            </a:r>
          </a:p>
          <a:p>
            <a:pPr lvl="0">
              <a:lnSpc>
                <a:spcPct val="150000"/>
              </a:lnSpc>
            </a:pPr>
            <a:r>
              <a:rPr lang="en-IN" sz="2100" b="1" dirty="0">
                <a:latin typeface="Times New Roman" panose="02020603050405020304" pitchFamily="18" charset="0"/>
                <a:cs typeface="Times New Roman" panose="02020603050405020304" pitchFamily="18" charset="0"/>
              </a:rPr>
              <a:t>Mouth Aspect Ratio (MAR)</a:t>
            </a:r>
          </a:p>
          <a:p>
            <a:pPr lvl="0">
              <a:lnSpc>
                <a:spcPct val="150000"/>
              </a:lnSpc>
            </a:pPr>
            <a:r>
              <a:rPr lang="en-IN" sz="21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Used to measure mouth opening and detect possible talking. </a:t>
            </a:r>
          </a:p>
          <a:p>
            <a:pPr lvl="0">
              <a:lnSpc>
                <a:spcPct val="150000"/>
              </a:lnSpc>
            </a:pPr>
            <a:r>
              <a:rPr lang="en-IN" sz="2100" b="1" dirty="0">
                <a:latin typeface="Times New Roman" panose="02020603050405020304" pitchFamily="18" charset="0"/>
                <a:cs typeface="Times New Roman" panose="02020603050405020304" pitchFamily="18" charset="0"/>
              </a:rPr>
              <a:t>YOLOv8 / YOLOv12</a:t>
            </a:r>
            <a:endParaRPr lang="en-IN" sz="2200" b="1" dirty="0">
              <a:latin typeface="Times New Roman" panose="02020603050405020304" pitchFamily="18" charset="0"/>
              <a:cs typeface="Times New Roman" panose="02020603050405020304" pitchFamily="18" charset="0"/>
            </a:endParaRPr>
          </a:p>
          <a:p>
            <a:pPr lvl="0">
              <a:lnSpc>
                <a:spcPct val="150000"/>
              </a:lnSpc>
            </a:pPr>
            <a:r>
              <a:rPr lang="en-IN" sz="2200" dirty="0">
                <a:latin typeface="Times New Roman" panose="02020603050405020304" pitchFamily="18" charset="0"/>
                <a:cs typeface="Times New Roman" panose="02020603050405020304" pitchFamily="18" charset="0"/>
              </a:rPr>
              <a:t>Used to detect prohibited objects such as mobile phones, smartwatches and cheat sheets. </a:t>
            </a:r>
          </a:p>
        </p:txBody>
      </p:sp>
      <p:sp>
        <p:nvSpPr>
          <p:cNvPr id="8" name="Text 8">
            <a:extLst>
              <a:ext uri="{FF2B5EF4-FFF2-40B4-BE49-F238E27FC236}">
                <a16:creationId xmlns:a16="http://schemas.microsoft.com/office/drawing/2014/main" id="{57FC9923-329B-F96B-0156-9B601E38BB9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Tree>
    <p:extLst>
      <p:ext uri="{BB962C8B-B14F-4D97-AF65-F5344CB8AC3E}">
        <p14:creationId xmlns:p14="http://schemas.microsoft.com/office/powerpoint/2010/main" val="190060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8222FE-7D9B-AB5C-CB57-2936AA98E577}"/>
              </a:ext>
            </a:extLst>
          </p:cNvPr>
          <p:cNvSpPr txBox="1"/>
          <p:nvPr/>
        </p:nvSpPr>
        <p:spPr>
          <a:xfrm>
            <a:off x="639791" y="1112808"/>
            <a:ext cx="10757139" cy="2547620"/>
          </a:xfrm>
          <a:prstGeom prst="rect">
            <a:avLst/>
          </a:prstGeom>
          <a:noFill/>
        </p:spPr>
        <p:txBody>
          <a:bodyPr wrap="square">
            <a:spAutoFit/>
          </a:bodyPr>
          <a:lstStyle/>
          <a:p>
            <a:pPr lvl="0">
              <a:lnSpc>
                <a:spcPct val="150000"/>
              </a:lnSpc>
            </a:pPr>
            <a:r>
              <a:rPr lang="en-IN" sz="2100" b="1" dirty="0">
                <a:latin typeface="Times New Roman" panose="02020603050405020304" pitchFamily="18" charset="0"/>
                <a:cs typeface="Times New Roman" panose="02020603050405020304" pitchFamily="18" charset="0"/>
              </a:rPr>
              <a:t>3D Head Pose</a:t>
            </a:r>
          </a:p>
          <a:p>
            <a:pPr lvl="0">
              <a:lnSpc>
                <a:spcPct val="150000"/>
              </a:lnSpc>
            </a:pPr>
            <a:r>
              <a:rPr lang="en-IN" sz="2200" dirty="0">
                <a:latin typeface="Times New Roman" panose="02020603050405020304" pitchFamily="18" charset="0"/>
                <a:cs typeface="Times New Roman" panose="02020603050405020304" pitchFamily="18" charset="0"/>
              </a:rPr>
              <a:t>Used to estimate head direction and identify whether a student is turning toward another desk. </a:t>
            </a:r>
          </a:p>
          <a:p>
            <a:pPr>
              <a:lnSpc>
                <a:spcPct val="150000"/>
              </a:lnSpc>
            </a:pPr>
            <a:r>
              <a:rPr lang="en-IN" sz="2200" b="1" dirty="0">
                <a:latin typeface="Times New Roman" panose="02020603050405020304" pitchFamily="18" charset="0"/>
                <a:cs typeface="Times New Roman" panose="02020603050405020304" pitchFamily="18" charset="0"/>
              </a:rPr>
              <a:t>Main idea</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Instead of depending on one detection method, I combine these visual features to make the final decision.</a:t>
            </a:r>
          </a:p>
        </p:txBody>
      </p:sp>
      <p:sp>
        <p:nvSpPr>
          <p:cNvPr id="5" name="TextBox 4">
            <a:extLst>
              <a:ext uri="{FF2B5EF4-FFF2-40B4-BE49-F238E27FC236}">
                <a16:creationId xmlns:a16="http://schemas.microsoft.com/office/drawing/2014/main" id="{6A21E5AA-A9B0-0C68-0430-624BC5AC6541}"/>
              </a:ext>
            </a:extLst>
          </p:cNvPr>
          <p:cNvSpPr txBox="1"/>
          <p:nvPr/>
        </p:nvSpPr>
        <p:spPr>
          <a:xfrm>
            <a:off x="639791" y="336432"/>
            <a:ext cx="11050439" cy="553998"/>
          </a:xfrm>
          <a:prstGeom prst="rect">
            <a:avLst/>
          </a:prstGeom>
          <a:noFill/>
        </p:spPr>
        <p:txBody>
          <a:bodyPr wrap="square">
            <a:spAutoFit/>
          </a:bodyP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Tree>
    <p:extLst>
      <p:ext uri="{BB962C8B-B14F-4D97-AF65-F5344CB8AC3E}">
        <p14:creationId xmlns:p14="http://schemas.microsoft.com/office/powerpoint/2010/main" val="382405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E5780-BFED-8100-7EF8-8DCC6EA17F2A}"/>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32F51605-4AB5-2FDE-5373-8C5880AB4001}"/>
              </a:ext>
            </a:extLst>
          </p:cNvPr>
          <p:cNvSpPr/>
          <p:nvPr/>
        </p:nvSpPr>
        <p:spPr>
          <a:xfrm>
            <a:off x="646981" y="376707"/>
            <a:ext cx="11744325"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
        <p:nvSpPr>
          <p:cNvPr id="6" name="TextBox 5">
            <a:extLst>
              <a:ext uri="{FF2B5EF4-FFF2-40B4-BE49-F238E27FC236}">
                <a16:creationId xmlns:a16="http://schemas.microsoft.com/office/drawing/2014/main" id="{724CAA98-E45D-6B41-3AC3-F2E869AB9252}"/>
              </a:ext>
            </a:extLst>
          </p:cNvPr>
          <p:cNvSpPr txBox="1"/>
          <p:nvPr/>
        </p:nvSpPr>
        <p:spPr>
          <a:xfrm>
            <a:off x="646981" y="756865"/>
            <a:ext cx="11344994" cy="5640775"/>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Spatial-Temporal Gaze-Pose-Lip Rule Engine</a:t>
            </a:r>
          </a:p>
          <a:p>
            <a:pPr>
              <a:lnSpc>
                <a:spcPct val="150000"/>
              </a:lnSpc>
            </a:pPr>
            <a:r>
              <a:rPr lang="en-IN" sz="2200" dirty="0">
                <a:latin typeface="Times New Roman" panose="02020603050405020304" pitchFamily="18" charset="0"/>
                <a:cs typeface="Times New Roman" panose="02020603050405020304" pitchFamily="18" charset="0"/>
              </a:rPr>
              <a:t>The basic approach may generate false alerts when a student moves their lips or looks around normally.</a:t>
            </a:r>
          </a:p>
          <a:p>
            <a:pPr>
              <a:lnSpc>
                <a:spcPct val="150000"/>
              </a:lnSpc>
            </a:pPr>
            <a:r>
              <a:rPr lang="en-IN" sz="2200" dirty="0">
                <a:latin typeface="Times New Roman" panose="02020603050405020304" pitchFamily="18" charset="0"/>
                <a:cs typeface="Times New Roman" panose="02020603050405020304" pitchFamily="18" charset="0"/>
              </a:rPr>
              <a:t>So, my approach combines </a:t>
            </a:r>
            <a:r>
              <a:rPr lang="en-IN" sz="2200" b="1" dirty="0">
                <a:latin typeface="Times New Roman" panose="02020603050405020304" pitchFamily="18" charset="0"/>
                <a:cs typeface="Times New Roman" panose="02020603050405020304" pitchFamily="18" charset="0"/>
              </a:rPr>
              <a:t>three conditions</a:t>
            </a:r>
            <a:r>
              <a:rPr lang="en-IN" sz="2200" dirty="0">
                <a:latin typeface="Times New Roman" panose="02020603050405020304" pitchFamily="18" charset="0"/>
                <a:cs typeface="Times New Roman" panose="02020603050405020304" pitchFamily="18" charset="0"/>
              </a:rPr>
              <a:t>:</a:t>
            </a:r>
          </a:p>
          <a:p>
            <a:pPr lvl="5"/>
            <a:r>
              <a:rPr lang="en-IN" sz="1800" b="1"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Mouth Movement</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MAR &gt; 0.35</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Head Direction</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|Yaw| &gt; 30°</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Continuous Behaviour</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3 seconds</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p>
          <a:p>
            <a:pPr lvl="5">
              <a:lnSpc>
                <a:spcPct val="150000"/>
              </a:lnSpc>
            </a:pPr>
            <a:r>
              <a:rPr lang="en-IN" sz="1900" b="1" dirty="0">
                <a:latin typeface="Times New Roman" panose="02020603050405020304" pitchFamily="18" charset="0"/>
                <a:cs typeface="Times New Roman" panose="02020603050405020304" pitchFamily="18" charset="0"/>
              </a:rPr>
              <a:t>			Malpractice Alert</a:t>
            </a:r>
          </a:p>
          <a:p>
            <a:pPr>
              <a:lnSpc>
                <a:spcPct val="150000"/>
              </a:lnSpc>
            </a:pPr>
            <a:endParaRPr lang="en-IN" sz="2200"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638E94BA-1629-3137-26F0-8C84A44E92C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Tree>
    <p:extLst>
      <p:ext uri="{BB962C8B-B14F-4D97-AF65-F5344CB8AC3E}">
        <p14:creationId xmlns:p14="http://schemas.microsoft.com/office/powerpoint/2010/main" val="85718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226307-7325-306E-5C80-329B708B698B}"/>
              </a:ext>
            </a:extLst>
          </p:cNvPr>
          <p:cNvSpPr txBox="1"/>
          <p:nvPr/>
        </p:nvSpPr>
        <p:spPr>
          <a:xfrm>
            <a:off x="652732" y="673994"/>
            <a:ext cx="10886536" cy="6079357"/>
          </a:xfrm>
          <a:prstGeom prst="rect">
            <a:avLst/>
          </a:prstGeom>
          <a:noFill/>
        </p:spPr>
        <p:txBody>
          <a:bodyPr wrap="square">
            <a:spAutoFit/>
          </a:bodyPr>
          <a:lstStyle/>
          <a:p>
            <a:pPr>
              <a:lnSpc>
                <a:spcPct val="150000"/>
              </a:lnSpc>
              <a:buNone/>
            </a:pPr>
            <a:r>
              <a:rPr lang="en-IN" sz="2200" dirty="0">
                <a:latin typeface="Times New Roman" panose="02020603050405020304" pitchFamily="18" charset="0"/>
                <a:cs typeface="Times New Roman" panose="02020603050405020304" pitchFamily="18" charset="0"/>
              </a:rPr>
              <a:t>At the same time:</a:t>
            </a:r>
          </a:p>
          <a:p>
            <a:pPr>
              <a:lnSpc>
                <a:spcPct val="150000"/>
              </a:lnSpc>
              <a:buNone/>
            </a:pPr>
            <a:r>
              <a:rPr lang="en-IN" sz="2200" b="1" dirty="0">
                <a:latin typeface="Times New Roman" panose="02020603050405020304" pitchFamily="18" charset="0"/>
                <a:cs typeface="Times New Roman" panose="02020603050405020304" pitchFamily="18" charset="0"/>
              </a:rPr>
              <a:t>YOLO detects prohibited gadget → Immediate Alert</a:t>
            </a:r>
            <a:endParaRPr lang="en-IN" sz="2200" dirty="0">
              <a:latin typeface="Times New Roman" panose="02020603050405020304" pitchFamily="18" charset="0"/>
              <a:cs typeface="Times New Roman" panose="02020603050405020304" pitchFamily="18" charset="0"/>
            </a:endParaRPr>
          </a:p>
          <a:p>
            <a:pPr>
              <a:lnSpc>
                <a:spcPct val="150000"/>
              </a:lnSpc>
              <a:buNone/>
            </a:pPr>
            <a:r>
              <a:rPr lang="en-IN" sz="2200" b="1" dirty="0">
                <a:latin typeface="Times New Roman" panose="02020603050405020304" pitchFamily="18" charset="0"/>
                <a:cs typeface="Times New Roman" panose="02020603050405020304" pitchFamily="18" charset="0"/>
              </a:rPr>
              <a:t>My modification:</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A single mouth movement is not treated as malpractice. The system checks </a:t>
            </a:r>
            <a:r>
              <a:rPr lang="en-IN" sz="2200" b="1" dirty="0">
                <a:latin typeface="Times New Roman" panose="02020603050405020304" pitchFamily="18" charset="0"/>
                <a:cs typeface="Times New Roman" panose="02020603050405020304" pitchFamily="18" charset="0"/>
              </a:rPr>
              <a:t>mouth movement + head direction + duration</a:t>
            </a:r>
            <a:r>
              <a:rPr lang="en-IN" sz="2200" dirty="0">
                <a:latin typeface="Times New Roman" panose="02020603050405020304" pitchFamily="18" charset="0"/>
                <a:cs typeface="Times New Roman" panose="02020603050405020304" pitchFamily="18" charset="0"/>
              </a:rPr>
              <a:t> before generating an alert</a:t>
            </a:r>
            <a:endParaRPr lang="en-IN" sz="1500" b="1" dirty="0">
              <a:latin typeface="Times New Roman" panose="02020603050405020304" pitchFamily="18" charset="0"/>
              <a:ea typeface="Tahoma" panose="020B0604030504040204" pitchFamily="34" charset="0"/>
              <a:cs typeface="Times New Roman" panose="02020603050405020304" pitchFamily="18" charset="0"/>
            </a:endParaRPr>
          </a:p>
          <a:p>
            <a:r>
              <a:rPr lang="en-IN" sz="2200" b="1" dirty="0">
                <a:latin typeface="Times New Roman" panose="02020603050405020304" pitchFamily="18" charset="0"/>
                <a:ea typeface="Tahoma" panose="020B0604030504040204" pitchFamily="34" charset="0"/>
                <a:cs typeface="Times New Roman" panose="02020603050405020304" pitchFamily="18" charset="0"/>
              </a:rPr>
              <a:t>Proposed Algorithm Flow</a:t>
            </a:r>
          </a:p>
          <a:p>
            <a:pPr lvl="1"/>
            <a:r>
              <a:rPr lang="en-IN" sz="1500" b="1" dirty="0">
                <a:latin typeface="Times New Roman" panose="02020603050405020304" pitchFamily="18" charset="0"/>
                <a:ea typeface="Tahoma" panose="020B0604030504040204" pitchFamily="34" charset="0"/>
                <a:cs typeface="Times New Roman" panose="02020603050405020304" pitchFamily="18" charset="0"/>
              </a:rPr>
              <a:t>			CCTV Video</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Face &amp; Object Detection</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Head Pose + MAR + Mouth Energy</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YOLO Gadget Detection</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Rule Engine</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Normal / Malpractice Alert</a:t>
            </a:r>
            <a:endParaRPr lang="en-IN" sz="15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None/>
            </a:pPr>
            <a:endParaRPr lang="en-IN" sz="2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BD2B76-E57F-6F1C-DC29-7535D4959D6A}"/>
              </a:ext>
            </a:extLst>
          </p:cNvPr>
          <p:cNvSpPr txBox="1"/>
          <p:nvPr/>
        </p:nvSpPr>
        <p:spPr>
          <a:xfrm>
            <a:off x="652732" y="320489"/>
            <a:ext cx="6094562" cy="553998"/>
          </a:xfrm>
          <a:prstGeom prst="rect">
            <a:avLst/>
          </a:prstGeom>
          <a:noFill/>
        </p:spPr>
        <p:txBody>
          <a:bodyPr wrap="square">
            <a:spAutoFit/>
          </a:bodyP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Tree>
    <p:extLst>
      <p:ext uri="{BB962C8B-B14F-4D97-AF65-F5344CB8AC3E}">
        <p14:creationId xmlns:p14="http://schemas.microsoft.com/office/powerpoint/2010/main" val="1231857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D3979D-4E76-F0AC-0584-51FED9212E75}"/>
              </a:ext>
            </a:extLst>
          </p:cNvPr>
          <p:cNvSpPr txBox="1"/>
          <p:nvPr/>
        </p:nvSpPr>
        <p:spPr>
          <a:xfrm>
            <a:off x="845389" y="1129788"/>
            <a:ext cx="10248181" cy="30785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Real-time laboratory CCTV camera video</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Video will be collected during </a:t>
            </a:r>
            <a:r>
              <a:rPr lang="en-IN" sz="2200" b="1" dirty="0">
                <a:latin typeface="Times New Roman" panose="02020603050405020304" pitchFamily="18" charset="0"/>
                <a:cs typeface="Times New Roman" panose="02020603050405020304" pitchFamily="18" charset="0"/>
              </a:rPr>
              <a:t>mock examination sessions</a:t>
            </a:r>
            <a:r>
              <a:rPr lang="en-IN" sz="2200" dirty="0">
                <a:latin typeface="Times New Roman" panose="02020603050405020304" pitchFamily="18" charset="0"/>
                <a:cs typeface="Times New Roman" panose="02020603050405020304" pitchFamily="18" charset="0"/>
              </a:rPr>
              <a:t> in the laboratory.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videos will contain normal student activities and simulated malpractice activities.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dataset will be used to test </a:t>
            </a:r>
            <a:r>
              <a:rPr lang="en-IN" sz="2200" b="1" dirty="0">
                <a:latin typeface="Times New Roman" panose="02020603050405020304" pitchFamily="18" charset="0"/>
                <a:cs typeface="Times New Roman" panose="02020603050405020304" pitchFamily="18" charset="0"/>
              </a:rPr>
              <a:t>mouth movement, head pose, and prohibited-object detection</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Relevant video frames will be annotated for training and evaluation.</a:t>
            </a:r>
          </a:p>
        </p:txBody>
      </p:sp>
      <p:sp>
        <p:nvSpPr>
          <p:cNvPr id="5" name="TextBox 4">
            <a:extLst>
              <a:ext uri="{FF2B5EF4-FFF2-40B4-BE49-F238E27FC236}">
                <a16:creationId xmlns:a16="http://schemas.microsoft.com/office/drawing/2014/main" id="{45C1CD3E-EFC7-FE98-F915-3E2FA435C490}"/>
              </a:ext>
            </a:extLst>
          </p:cNvPr>
          <p:cNvSpPr txBox="1"/>
          <p:nvPr/>
        </p:nvSpPr>
        <p:spPr>
          <a:xfrm>
            <a:off x="845389" y="256522"/>
            <a:ext cx="6094562" cy="579967"/>
          </a:xfrm>
          <a:prstGeom prst="rect">
            <a:avLst/>
          </a:prstGeom>
          <a:noFill/>
        </p:spPr>
        <p:txBody>
          <a:bodyPr wrap="square">
            <a:spAutoFit/>
          </a:bodyPr>
          <a:lstStyle/>
          <a:p>
            <a:pPr>
              <a:lnSpc>
                <a:spcPct val="150000"/>
              </a:lnSpc>
              <a:buNone/>
            </a:pPr>
            <a:r>
              <a:rPr lang="en-IN" sz="2400" b="1" dirty="0">
                <a:solidFill>
                  <a:srgbClr val="FF0000"/>
                </a:solidFill>
                <a:latin typeface="Times New Roman" panose="02020603050405020304" pitchFamily="18" charset="0"/>
                <a:cs typeface="Times New Roman" panose="02020603050405020304" pitchFamily="18" charset="0"/>
              </a:rPr>
              <a:t>DATASET</a:t>
            </a:r>
          </a:p>
        </p:txBody>
      </p:sp>
    </p:spTree>
    <p:extLst>
      <p:ext uri="{BB962C8B-B14F-4D97-AF65-F5344CB8AC3E}">
        <p14:creationId xmlns:p14="http://schemas.microsoft.com/office/powerpoint/2010/main" val="931116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C7BFEC-AB75-32EE-0C01-67ABEC819C7A}"/>
              </a:ext>
            </a:extLst>
          </p:cNvPr>
          <p:cNvSpPr txBox="1"/>
          <p:nvPr/>
        </p:nvSpPr>
        <p:spPr>
          <a:xfrm>
            <a:off x="776376" y="1061047"/>
            <a:ext cx="10446589" cy="358636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Conduct experiments using </a:t>
            </a:r>
            <a:r>
              <a:rPr lang="en-IN" sz="2200" b="1" dirty="0">
                <a:latin typeface="Times New Roman" panose="02020603050405020304" pitchFamily="18" charset="0"/>
                <a:cs typeface="Times New Roman" panose="02020603050405020304" pitchFamily="18" charset="0"/>
              </a:rPr>
              <a:t>real-time laboratory CCTV camera video</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Test the system during </a:t>
            </a:r>
            <a:r>
              <a:rPr lang="en-IN" sz="2200" b="1" dirty="0">
                <a:latin typeface="Times New Roman" panose="02020603050405020304" pitchFamily="18" charset="0"/>
                <a:cs typeface="Times New Roman" panose="02020603050405020304" pitchFamily="18" charset="0"/>
              </a:rPr>
              <a:t>normal examination activities</a:t>
            </a:r>
            <a:r>
              <a:rPr lang="en-IN" sz="2200" dirty="0">
                <a:latin typeface="Times New Roman" panose="02020603050405020304" pitchFamily="18" charset="0"/>
                <a:cs typeface="Times New Roman" panose="02020603050405020304" pitchFamily="18" charset="0"/>
              </a:rPr>
              <a:t> and </a:t>
            </a:r>
            <a:r>
              <a:rPr lang="en-IN" sz="2200" b="1" dirty="0">
                <a:latin typeface="Times New Roman" panose="02020603050405020304" pitchFamily="18" charset="0"/>
                <a:cs typeface="Times New Roman" panose="02020603050405020304" pitchFamily="18" charset="0"/>
              </a:rPr>
              <a:t>simulated malpractice activities</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Evaluate </a:t>
            </a:r>
            <a:r>
              <a:rPr lang="en-IN" sz="2200" b="1" dirty="0">
                <a:latin typeface="Times New Roman" panose="02020603050405020304" pitchFamily="18" charset="0"/>
                <a:cs typeface="Times New Roman" panose="02020603050405020304" pitchFamily="18" charset="0"/>
              </a:rPr>
              <a:t>mouth movement, head pose, and prohibited-object detection</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Compare the basic detection approach with the </a:t>
            </a:r>
            <a:r>
              <a:rPr lang="en-IN" sz="2200" b="1" dirty="0">
                <a:latin typeface="Times New Roman" panose="02020603050405020304" pitchFamily="18" charset="0"/>
                <a:cs typeface="Times New Roman" panose="02020603050405020304" pitchFamily="18" charset="0"/>
              </a:rPr>
              <a:t>proposed multi-condition rule engine</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Observe whether combining multiple conditions helps </a:t>
            </a:r>
            <a:r>
              <a:rPr lang="en-IN" sz="2200" b="1" dirty="0">
                <a:latin typeface="Times New Roman" panose="02020603050405020304" pitchFamily="18" charset="0"/>
                <a:cs typeface="Times New Roman" panose="02020603050405020304" pitchFamily="18" charset="0"/>
              </a:rPr>
              <a:t>reduce false-positive alerts</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Test the system for </a:t>
            </a:r>
            <a:r>
              <a:rPr lang="en-IN" sz="2200" b="1" dirty="0">
                <a:latin typeface="Times New Roman" panose="02020603050405020304" pitchFamily="18" charset="0"/>
                <a:cs typeface="Times New Roman" panose="02020603050405020304" pitchFamily="18" charset="0"/>
              </a:rPr>
              <a:t>real-time processing</a:t>
            </a:r>
            <a:r>
              <a:rPr lang="en-IN" sz="2200" dirty="0">
                <a:latin typeface="Times New Roman" panose="02020603050405020304" pitchFamily="18" charset="0"/>
                <a:cs typeface="Times New Roman" panose="02020603050405020304" pitchFamily="18" charset="0"/>
              </a:rPr>
              <a:t> in a laboratory environment.</a:t>
            </a:r>
          </a:p>
        </p:txBody>
      </p:sp>
      <p:sp>
        <p:nvSpPr>
          <p:cNvPr id="5" name="TextBox 4">
            <a:extLst>
              <a:ext uri="{FF2B5EF4-FFF2-40B4-BE49-F238E27FC236}">
                <a16:creationId xmlns:a16="http://schemas.microsoft.com/office/drawing/2014/main" id="{FFB731AF-BCDF-6B62-F06A-293BF7DFF120}"/>
              </a:ext>
            </a:extLst>
          </p:cNvPr>
          <p:cNvSpPr txBox="1"/>
          <p:nvPr/>
        </p:nvSpPr>
        <p:spPr>
          <a:xfrm>
            <a:off x="776376" y="449223"/>
            <a:ext cx="6094562" cy="461665"/>
          </a:xfrm>
          <a:prstGeom prst="rect">
            <a:avLst/>
          </a:prstGeom>
          <a:noFill/>
        </p:spPr>
        <p:txBody>
          <a:bodyPr wrap="square">
            <a:spAutoFit/>
          </a:bodyPr>
          <a:lstStyle/>
          <a:p>
            <a:pPr>
              <a:buNone/>
            </a:pPr>
            <a:r>
              <a:rPr lang="en-IN" sz="2400" b="1" dirty="0">
                <a:solidFill>
                  <a:srgbClr val="FF0000"/>
                </a:solidFill>
                <a:latin typeface="Times New Roman" panose="02020603050405020304" pitchFamily="18" charset="0"/>
                <a:cs typeface="Times New Roman" panose="02020603050405020304" pitchFamily="18" charset="0"/>
              </a:rPr>
              <a:t>EXPERIMENT</a:t>
            </a:r>
          </a:p>
        </p:txBody>
      </p:sp>
    </p:spTree>
    <p:extLst>
      <p:ext uri="{BB962C8B-B14F-4D97-AF65-F5344CB8AC3E}">
        <p14:creationId xmlns:p14="http://schemas.microsoft.com/office/powerpoint/2010/main" val="1292004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3366174"/>
      </p:ext>
    </p:extLst>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2EC4925-13C0-4F9C-9EC6-BA379B2903BA}" vid="{D05CAAF7-8C12-42B7-AE16-5E8F348BAE34}"/>
    </a:ext>
  </a:ext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732</TotalTime>
  <Words>1349</Words>
  <Application>Microsoft Office PowerPoint</Application>
  <PresentationFormat>Widescreen</PresentationFormat>
  <Paragraphs>90</Paragraphs>
  <Slides>18</Slides>
  <Notes>4</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18</vt:i4>
      </vt:variant>
    </vt:vector>
  </HeadingPairs>
  <TitlesOfParts>
    <vt:vector size="30" baseType="lpstr">
      <vt:lpstr>Arial</vt:lpstr>
      <vt:lpstr>Avenir</vt:lpstr>
      <vt:lpstr>Calibri</vt:lpstr>
      <vt:lpstr>Cambria</vt:lpstr>
      <vt:lpstr>Garamond</vt:lpstr>
      <vt:lpstr>Poppins</vt:lpstr>
      <vt:lpstr>Times New Roman</vt:lpstr>
      <vt:lpstr>Theme1</vt:lpstr>
      <vt:lpstr>Presentation slides</vt:lpstr>
      <vt:lpstr>Presentation Cover page</vt:lpstr>
      <vt:lpstr>1_Presentation Cover page</vt:lpstr>
      <vt:lpstr>1_Presentation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s_mahalingam9486@outlook.com</cp:lastModifiedBy>
  <cp:revision>16</cp:revision>
  <dcterms:created xsi:type="dcterms:W3CDTF">2026-08-20T08:53:47Z</dcterms:created>
  <dcterms:modified xsi:type="dcterms:W3CDTF">2026-09-18T19:26:18Z</dcterms:modified>
</cp:coreProperties>
</file>