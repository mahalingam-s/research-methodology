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52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68242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486400" cy="5486400"/>
          </a:xfrm>
          <a:prstGeom prst="ellipse">
            <a:avLst/>
          </a:prstGeom>
          <a:solidFill>
            <a:srgbClr val="132A4C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548640"/>
            <a:ext cx="3657600" cy="3657600"/>
          </a:xfrm>
          <a:prstGeom prst="ellipse">
            <a:avLst/>
          </a:prstGeom>
          <a:solidFill>
            <a:srgbClr val="0F2547"/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206240"/>
            <a:ext cx="3840480" cy="3840480"/>
          </a:xfrm>
          <a:prstGeom prst="ellipse">
            <a:avLst/>
          </a:prstGeom>
          <a:solidFill>
            <a:srgbClr val="132A4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463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22  ·  MEMBER 2 SCOPE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920240"/>
            <a:ext cx="9875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Laboratory Camera</a:t>
            </a:r>
            <a:endParaRPr lang="en-US" sz="4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Examination Proctoring Framework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70332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C7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Contributions &amp; Targeted Literature Survey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822960" y="4434840"/>
            <a:ext cx="292608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4663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Mahalingam S.</a:t>
            </a:r>
            <a:r>
              <a:rPr lang="en-US" sz="1600" dirty="0">
                <a:solidFill>
                  <a:srgbClr val="AEB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CB.SC.P2CSE26016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507492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2 — System Architecture &amp; Infrastructure Integration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537667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19CSE601 Research Methodology  |  Dept. of Computer Science &amp; AI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Presentation Covers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02920" cy="50292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57276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Contributions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911096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camera infrastructure, cheating taxonomy, 7-stage pipeline, risk fusion &amp; explainable AI.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325880" y="2386584"/>
            <a:ext cx="9509760" cy="0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542032"/>
            <a:ext cx="502920" cy="50292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542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246888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Targeted Papers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2807208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Peer-reviewed studies (2025–2026) that directly back my specific design decisions.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325880" y="3282696"/>
            <a:ext cx="9509760" cy="0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438144"/>
            <a:ext cx="502920" cy="50292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34381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336499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Literature Survey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370332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studies organized across 4 thematic pillars connected to the framework.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325880" y="4178808"/>
            <a:ext cx="9509760" cy="0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4334256"/>
            <a:ext cx="502920" cy="50292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43342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325880" y="4261104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Comparative Summary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4599432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proposed framework stacks up against prior proctoring systems.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325880" y="5074920"/>
            <a:ext cx="9509760" cy="0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5230368"/>
            <a:ext cx="502920" cy="502920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52303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325880" y="5157216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Gaps Addressed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1325880" y="5495544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concrete gaps in existing work that this framework closes.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22 · Member 2 — Mahalingam S.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CONTRIBUTIONS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Camera Infrastructure &amp; Zero-Cost Deployment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63093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1B2A44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901952"/>
            <a:ext cx="54864" cy="4572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847088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Laboratory HD Camera Setup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423160"/>
            <a:ext cx="5577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the high-precision video processing pipeline leveraging existing overhead CCTV or wide-angle USB cameras already installed in computer labs — interfaced directly to central lab workstations for real-time visual threat monitoring.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3840480"/>
            <a:ext cx="63093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1B2A44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13232" y="4096512"/>
            <a:ext cx="54864" cy="4572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4041648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Zero-Hardware-Cost Deployment Model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4617720"/>
            <a:ext cx="5577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Formulated an institutional deployment architecture that repurposes pre-installed university lab cameras and workstation compute, completely eliminating per-desk hardware procurement expenses.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040880" y="1645920"/>
            <a:ext cx="4709160" cy="1371600"/>
          </a:xfrm>
          <a:prstGeom prst="roundRect">
            <a:avLst>
              <a:gd name="adj" fmla="val 5333"/>
            </a:avLst>
          </a:prstGeom>
          <a:solidFill>
            <a:srgbClr val="0B1F3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040880" y="1773936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1080p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7040880" y="2542032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100" dirty="0">
                <a:solidFill>
                  <a:srgbClr val="C7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RESOLUTION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040880" y="3218688"/>
            <a:ext cx="4709160" cy="1371600"/>
          </a:xfrm>
          <a:prstGeom prst="roundRect">
            <a:avLst>
              <a:gd name="adj" fmla="val 5333"/>
            </a:avLst>
          </a:prstGeom>
          <a:solidFill>
            <a:srgbClr val="0B1F3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040880" y="3346704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FPS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7040880" y="411480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100" dirty="0">
                <a:solidFill>
                  <a:srgbClr val="C7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CAPTURE RATE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040880" y="4791456"/>
            <a:ext cx="4709160" cy="1371600"/>
          </a:xfrm>
          <a:prstGeom prst="roundRect">
            <a:avLst>
              <a:gd name="adj" fmla="val 5333"/>
            </a:avLst>
          </a:prstGeom>
          <a:solidFill>
            <a:srgbClr val="0B1F3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040880" y="4919472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B6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</a:t>
            </a:r>
            <a:endParaRPr lang="en-US" sz="4000" dirty="0"/>
          </a:p>
        </p:txBody>
      </p:sp>
      <p:sp>
        <p:nvSpPr>
          <p:cNvPr id="20" name="Text 18"/>
          <p:cNvSpPr txBox="1"/>
          <p:nvPr/>
        </p:nvSpPr>
        <p:spPr>
          <a:xfrm>
            <a:off x="7040880" y="5687568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100" dirty="0">
                <a:solidFill>
                  <a:srgbClr val="C7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HARDWARE COST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22 · Member 2 — Mahalingam S.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CONTRIBUTIONS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4-Class Physical Malpractice Taxonomy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344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Formulated for computer laboratory examination halls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553212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1B2A44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2039112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13232" y="2039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1984248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Candidate Impersonation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679192"/>
            <a:ext cx="4983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Unregistered individual seated at candidate station.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31520" y="3401568"/>
            <a:ext cx="4983480" cy="347472"/>
          </a:xfrm>
          <a:prstGeom prst="roundRect">
            <a:avLst>
              <a:gd name="adj" fmla="val 50000"/>
            </a:avLst>
          </a:prstGeom>
          <a:solidFill>
            <a:srgbClr val="EAF6F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3401568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FaceNet cosine distance &gt; 0.40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17920" y="1783080"/>
            <a:ext cx="553212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1B2A44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73952" y="2039112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73952" y="2039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132320" y="1984248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Prohibited Electronic Gadgets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6492240" y="2679192"/>
            <a:ext cx="4983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Smartphones or smartwatches visible on desk or hands.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92240" y="3401568"/>
            <a:ext cx="4983480" cy="347472"/>
          </a:xfrm>
          <a:prstGeom prst="roundRect">
            <a:avLst>
              <a:gd name="adj" fmla="val 50000"/>
            </a:avLst>
          </a:prstGeom>
          <a:solidFill>
            <a:srgbClr val="EAF6F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92240" y="3401568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YOLOv8-Nano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4160520"/>
            <a:ext cx="553212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1B2A44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13232" y="4416552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13232" y="4416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371600" y="4361688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Unauthorized Notes / Cheat Sheets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5056632"/>
            <a:ext cx="4983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slips or unapproved stationery on the desk.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31520" y="5779008"/>
            <a:ext cx="4983480" cy="347472"/>
          </a:xfrm>
          <a:prstGeom prst="roundRect">
            <a:avLst>
              <a:gd name="adj" fmla="val 50000"/>
            </a:avLst>
          </a:prstGeom>
          <a:solidFill>
            <a:srgbClr val="EAF6F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31520" y="5779008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YOLOv8-Nano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17920" y="4160520"/>
            <a:ext cx="553212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1B2A44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473952" y="4416552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473952" y="4416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7132320" y="4361688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Suspicious Head Turning / Glance Sharing</a:t>
            </a:r>
            <a:endParaRPr lang="en-US" sz="1450" dirty="0"/>
          </a:p>
        </p:txBody>
      </p:sp>
      <p:sp>
        <p:nvSpPr>
          <p:cNvPr id="30" name="Text 28"/>
          <p:cNvSpPr txBox="1"/>
          <p:nvPr/>
        </p:nvSpPr>
        <p:spPr>
          <a:xfrm>
            <a:off x="6492240" y="5056632"/>
            <a:ext cx="4983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turning head sideways toward neighboring workstations.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492240" y="5779008"/>
            <a:ext cx="4983480" cy="347472"/>
          </a:xfrm>
          <a:prstGeom prst="roundRect">
            <a:avLst>
              <a:gd name="adj" fmla="val 50000"/>
            </a:avLst>
          </a:prstGeom>
          <a:solidFill>
            <a:srgbClr val="EAF6F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492240" y="5779008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3D Pose SolvePnP · Yaw &gt; 35°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22 · Member 2 — Mahalingam S.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CONTRIBUTIONS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7-Stage End-to-End Processing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2668448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76200" dist="25400" dir="5400000" algn="bl" rotWithShape="0">
              <a:srgbClr val="1B2A44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35392" y="1892808"/>
            <a:ext cx="512064" cy="512064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535392" y="18928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03504" y="2514600"/>
            <a:ext cx="237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 Acquisition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03504" y="2990088"/>
            <a:ext cx="237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 1080p video stream capture via OpenCV.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3125648" y="182880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EB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326816" y="1691640"/>
            <a:ext cx="2668448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76200" dist="25400" dir="5400000" algn="bl" rotWithShape="0">
              <a:srgbClr val="1B2A44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05008" y="1892808"/>
            <a:ext cx="512064" cy="512064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405008" y="18928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473120" y="2514600"/>
            <a:ext cx="237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Biometric Identity Verification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473120" y="2990088"/>
            <a:ext cx="237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128D FaceNet embedding extraction &amp; matching.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5995264" y="182880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EB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196432" y="1691640"/>
            <a:ext cx="2668448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76200" dist="25400" dir="5400000" algn="bl" rotWithShape="0">
              <a:srgbClr val="1B2A44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274624" y="1892808"/>
            <a:ext cx="512064" cy="512064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274624" y="18928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6342736" y="2514600"/>
            <a:ext cx="237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Object Inference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342736" y="2990088"/>
            <a:ext cx="237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YOLOv8-Nano scans for prohibited gadgets.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8864879" y="182880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EB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066047" y="1691640"/>
            <a:ext cx="2668448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76200" dist="25400" dir="5400000" algn="bl" rotWithShape="0">
              <a:srgbClr val="1B2A44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0144239" y="1892808"/>
            <a:ext cx="512064" cy="512064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0144239" y="18928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9212351" y="2514600"/>
            <a:ext cx="237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3D Pose &amp; Gaze Tracking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9212351" y="2990088"/>
            <a:ext cx="237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468 keypoints &amp; SolvePnP Euler angles.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" y="3794760"/>
            <a:ext cx="3624986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76200" dist="25400" dir="5400000" algn="bl" rotWithShape="0">
              <a:srgbClr val="1B2A44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013661" y="3995928"/>
            <a:ext cx="512064" cy="512064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2013661" y="39959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30" name="Text 28"/>
          <p:cNvSpPr txBox="1"/>
          <p:nvPr/>
        </p:nvSpPr>
        <p:spPr>
          <a:xfrm>
            <a:off x="603504" y="4617720"/>
            <a:ext cx="33323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 Risk Score Aggregation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03504" y="5093208"/>
            <a:ext cx="33323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multimodal risk weighting formula.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4082186" y="393192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EB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283354" y="3794760"/>
            <a:ext cx="3624986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76200" dist="25400" dir="5400000" algn="bl" rotWithShape="0">
              <a:srgbClr val="1B2A44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839816" y="3995928"/>
            <a:ext cx="512064" cy="512064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5839816" y="39959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36" name="Text 34"/>
          <p:cNvSpPr txBox="1"/>
          <p:nvPr/>
        </p:nvSpPr>
        <p:spPr>
          <a:xfrm>
            <a:off x="4429658" y="4617720"/>
            <a:ext cx="33323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Explainable AI (XAI) Generation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4429658" y="5093208"/>
            <a:ext cx="33323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heatmaps &amp; SHAP attributions.</a:t>
            </a:r>
            <a:endParaRPr lang="en-US" sz="950" dirty="0"/>
          </a:p>
        </p:txBody>
      </p:sp>
      <p:sp>
        <p:nvSpPr>
          <p:cNvPr id="38" name="Text 36"/>
          <p:cNvSpPr txBox="1"/>
          <p:nvPr/>
        </p:nvSpPr>
        <p:spPr>
          <a:xfrm>
            <a:off x="7908341" y="393192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EB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109509" y="3794760"/>
            <a:ext cx="3624986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76200" dist="25400" dir="5400000" algn="bl" rotWithShape="0">
              <a:srgbClr val="1B2A44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9665970" y="3995928"/>
            <a:ext cx="512064" cy="512064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9665970" y="39959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000" dirty="0"/>
          </a:p>
        </p:txBody>
      </p:sp>
      <p:sp>
        <p:nvSpPr>
          <p:cNvPr id="42" name="Text 40"/>
          <p:cNvSpPr txBox="1"/>
          <p:nvPr/>
        </p:nvSpPr>
        <p:spPr>
          <a:xfrm>
            <a:off x="8255813" y="4617720"/>
            <a:ext cx="33323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Alerting &amp; Audit Logging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8255813" y="5093208"/>
            <a:ext cx="33323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Invigilator UI alerts &amp; timestamped JSON logs.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22 · Member 2 — Mahalingam S.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CONTRIBUTIONS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 Risk Fusion Model &amp; Explainable AI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10515600" cy="1737360"/>
          </a:xfrm>
          <a:prstGeom prst="roundRect">
            <a:avLst>
              <a:gd name="adj" fmla="val 5263"/>
            </a:avLst>
          </a:prstGeom>
          <a:solidFill>
            <a:srgbClr val="132A4C"/>
          </a:solidFill>
          <a:ln w="12700">
            <a:solidFill>
              <a:srgbClr val="2440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187452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C7D4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</a:t>
            </a:r>
            <a:r>
              <a:rPr lang="en-US" sz="1300" b="1" baseline="-1000" dirty="0">
                <a:solidFill>
                  <a:srgbClr val="C7D4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</a:t>
            </a: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=  0.40 × Auth</a:t>
            </a:r>
            <a:r>
              <a:rPr lang="en-US" sz="1300" b="1" baseline="-1000" dirty="0">
                <a:solidFill>
                  <a:srgbClr val="8FA3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</a:t>
            </a: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+  0.40 × Object</a:t>
            </a:r>
            <a:r>
              <a:rPr lang="en-US" sz="1300" b="1" baseline="-1000" dirty="0">
                <a:solidFill>
                  <a:srgbClr val="8FA3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</a:t>
            </a: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+  0.20 × Pose</a:t>
            </a:r>
            <a:r>
              <a:rPr lang="en-US" sz="1300" b="1" baseline="-1000" dirty="0">
                <a:solidFill>
                  <a:srgbClr val="8FA3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260604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Malpractice Flagged  =  True</a:t>
            </a:r>
            <a:r>
              <a:rPr lang="en-US" sz="1600" dirty="0">
                <a:solidFill>
                  <a:srgbClr val="C7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if   Risk</a:t>
            </a:r>
            <a:r>
              <a:rPr lang="en-US" sz="1200" baseline="-10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r>
              <a:rPr lang="en-US" sz="1600" dirty="0">
                <a:solidFill>
                  <a:srgbClr val="C7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≥  0.25   else   False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3794760"/>
            <a:ext cx="5074920" cy="1920240"/>
          </a:xfrm>
          <a:prstGeom prst="roundRect">
            <a:avLst>
              <a:gd name="adj" fmla="val 3810"/>
            </a:avLst>
          </a:prstGeom>
          <a:solidFill>
            <a:srgbClr val="132A4C"/>
          </a:solidFill>
          <a:ln w="12700">
            <a:solidFill>
              <a:srgbClr val="2440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0" y="4069080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9728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◈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470916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Grad-CAM Saliency Heatmaps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5166360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EB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verification of item bounding boxes — shows exactly where the model is looking when it flags an object.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63640" y="3794760"/>
            <a:ext cx="5074920" cy="1920240"/>
          </a:xfrm>
          <a:prstGeom prst="roundRect">
            <a:avLst>
              <a:gd name="adj" fmla="val 3810"/>
            </a:avLst>
          </a:prstGeom>
          <a:solidFill>
            <a:srgbClr val="132A4C"/>
          </a:solidFill>
          <a:ln w="12700">
            <a:solidFill>
              <a:srgbClr val="24406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37960" y="4069080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3796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∑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537960" y="470916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SHAP Additive Attributions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537960" y="5166360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EB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Transparent, per-modality breakdown of the aggregated risk score for full auditability.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22 · Member 2 — Mahalingam S.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011680"/>
            <a:ext cx="5486400" cy="5486400"/>
          </a:xfrm>
          <a:prstGeom prst="ellipse">
            <a:avLst/>
          </a:prstGeom>
          <a:solidFill>
            <a:srgbClr val="132A4C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0" y="4389120"/>
            <a:ext cx="4572000" cy="4572000"/>
          </a:xfrm>
          <a:prstGeom prst="ellipse">
            <a:avLst/>
          </a:prstGeom>
          <a:solidFill>
            <a:srgbClr val="132A4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651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TWO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01752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Survey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93192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7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peer-reviewed studies (2025–2026) across 4 thematic pillars — grounding every design decision in current research.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22 · Member 2 — Mahalingam S.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Papers Directly Backing My Contributions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3611880" cy="416052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1B2A44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947672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606040"/>
            <a:ext cx="309981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b="1" i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CCTV Exam Monitoring to Detect and Alert Suspicious Activities Using Deep Transfer Learning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4023360"/>
            <a:ext cx="3099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Procedia Computer Science (Elsevier), Vol. 269, 2025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13232" y="4544568"/>
            <a:ext cx="3099816" cy="0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13232" y="4654296"/>
            <a:ext cx="3099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B27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CONNECTION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713232" y="4937760"/>
            <a:ext cx="30998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repurposing overhead lab CCTV / USB HD cameras — proves $0 additional-hardware invigilation is achievable.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25112" y="1691640"/>
            <a:ext cx="3611880" cy="416052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1B2A44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81144" y="1947672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581144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P2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581144" y="2606040"/>
            <a:ext cx="309981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b="1" i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AI-Powered Real-Time Exam Invigilation Support System Using YOLO and ByteTrack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581144" y="4023360"/>
            <a:ext cx="3099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Intl. Conf. on Communication Networks &amp; Computing, 2026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81144" y="4544568"/>
            <a:ext cx="3099816" cy="0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81144" y="4654296"/>
            <a:ext cx="3099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B27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CONNECTION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581144" y="4937760"/>
            <a:ext cx="30998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Aligns with the 4-class taxonomy (gadgets &amp; unauthorized notes) and validates lightweight YOLO on workstation streams.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193024" y="1691640"/>
            <a:ext cx="3611880" cy="416052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1B2A44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449056" y="1947672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449056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P3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449056" y="2606040"/>
            <a:ext cx="309981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b="1" i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Comprehensive Review of the Changing Landscape of Academic Dishonesty in Automated Proctoring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8449056" y="4023360"/>
            <a:ext cx="3099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Education (Springer), Vol. 5, 2026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449056" y="4544568"/>
            <a:ext cx="3099816" cy="0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449056" y="4654296"/>
            <a:ext cx="3099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B27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CONNECTION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8449056" y="4937760"/>
            <a:ext cx="30998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theoretical backing for the 7-stage pipeline and a taxonomy beyond simple webcam gaze tracking.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22 · Member 2 — Mahalingam S.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 · PILLAR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Architectures &amp; Systematic Reviews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553212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76200" dist="25400" dir="5400000" algn="bl" rotWithShape="0">
              <a:srgbClr val="1B2A44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892808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Malhotra &amp; Chhabra (2026a)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4028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Education (Springer), Vol. 5, 2026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788920"/>
            <a:ext cx="4983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Decade-long systematic review of 80 studies (2014–2024): passive visual recording is inadequate for modern cheating tactics; advocates multi-sensory AI aggregation.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0" y="1691640"/>
            <a:ext cx="553212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76200" dist="25400" dir="5400000" algn="bl" rotWithShape="0">
              <a:srgbClr val="1B2A44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492240" y="1892808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Malhotra &amp; Chhabra (2026b)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224028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Education (Springer), Vol. 5, 2026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2788920"/>
            <a:ext cx="4983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Analyzes how AI reshapes malpractice tactics, necessitating adaptive, continuous multi-modal proctoring architectures.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4069080"/>
            <a:ext cx="553212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76200" dist="25400" dir="5400000" algn="bl" rotWithShape="0">
              <a:srgbClr val="1B2A44">
                <a:alpha val="1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731520" y="4270248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 et al. (2026)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461772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ICoECIT 2026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5166360"/>
            <a:ext cx="4983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ProctorPlus: a lightweight proctoring pipeline using YOLOv11 for item/person detection, facial recognition, and gaze tracking.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4069080"/>
            <a:ext cx="553212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76200" dist="25400" dir="5400000" algn="bl" rotWithShape="0">
              <a:srgbClr val="1B2A44">
                <a:alpha val="1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492240" y="4270248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Pranav et al. (2026)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461772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CCIS (Springer), Vol. 2845, 2026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492240" y="5166360"/>
            <a:ext cx="4983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Examines browser-based monitoring alongside visual oversight in higher-education assessment settings.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22 · Member 2 — Mahalingam S.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 · PILLAR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 Detection &amp; Evidence Integrity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553212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76200" dist="25400" dir="5400000" algn="bl" rotWithShape="0">
              <a:srgbClr val="1B2A44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892808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Wang et al. (2025)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4028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Reports (Nature), Vol. 15, 2025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788920"/>
            <a:ext cx="4983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YOLOv12 object detection with blockchain storage to create tamper-evident audit logs.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0" y="1691640"/>
            <a:ext cx="553212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76200" dist="25400" dir="5400000" algn="bl" rotWithShape="0">
              <a:srgbClr val="1B2A44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492240" y="1892808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CCTV Monitoring (2025)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224028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Procedia Computer Science, Vol. 269, 2025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2788920"/>
            <a:ext cx="4983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deep transfer learning to overhead CCTV streams to classify forbidden student movements.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4069080"/>
            <a:ext cx="553212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76200" dist="25400" dir="5400000" algn="bl" rotWithShape="0">
              <a:srgbClr val="1B2A44">
                <a:alpha val="1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731520" y="4270248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Mohapatra et al. (2025)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461772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JTIM, Vol. 17, No. 2, 2025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5166360"/>
            <a:ext cx="4983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embedded cameras to detect candidate gestures and physical interactions in real time.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4069080"/>
            <a:ext cx="553212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76200" dist="25400" dir="5400000" algn="bl" rotWithShape="0">
              <a:srgbClr val="1B2A44">
                <a:alpha val="1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492240" y="4270248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Patel et al. (2026)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461772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CNC 2026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492240" y="5166360"/>
            <a:ext cx="4983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Pairs YOLOv8-Nano with ByteTrack centroid tracking for multi-person tracking and item detection.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22 · Member 2 — Mahalingam S.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 · PILLARS 3 &amp; 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Biometric Identity Verification &amp; Explainable AI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002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3 — BIOMETRIC IDENTITY &amp; EDGE AI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76200" dist="25400" dir="5400000" algn="bl" rotWithShape="0">
              <a:srgbClr val="1B2A44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85800" y="21031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Jack et al. (2026)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40487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AI (Springer), 2026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660904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Evaluates a multi-facet facial recognition model for institutional attendance during examination scenarios.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401568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76200" dist="25400" dir="5400000" algn="bl" rotWithShape="0">
              <a:srgbClr val="1B2A44">
                <a:alpha val="1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85800" y="353872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Kumar et al. (2026)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8404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Trans. AI, Vol. 7, No. 1, 2026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4096512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edge AI processing with local feature attributions to preserve candidate privacy.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263640" y="16002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4 — EXPLAINABLE AI &amp; ACOUSTIC SENSING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63640" y="196596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76200" dist="25400" dir="5400000" algn="bl" rotWithShape="0">
              <a:srgbClr val="1B2A44">
                <a:alpha val="1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492240" y="21031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Al-Mansoori et al. (2026)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492240" y="240487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Computers &amp; Education: AI, Vol. 6, 2026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2660904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Integrates Grad-CAM visual heatmaps and SHAP feature attributions into proctoring systems.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63640" y="3401568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76200" dist="25400" dir="5400000" algn="bl" rotWithShape="0">
              <a:srgbClr val="1B2A44">
                <a:alpha val="10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492240" y="353872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Sharma et al. (2026)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492240" y="38404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IJRASET, Vol. 14, No. 2, 2026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6492240" y="4096512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Establishes a multimodal baseline combining YOLOv8, FaceNet, and spectral noise analysis.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63640" y="4837176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76200" dist="25400" dir="5400000" algn="bl" rotWithShape="0">
              <a:srgbClr val="1B2A44">
                <a:alpha val="10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6492240" y="4974336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Nguyen &amp; Ho (2026)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6492240" y="527608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Access, Vol. 14, 2026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6492240" y="553212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STFT/MFCC features and YAMNet acoustic embeddings for whisper detection.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22 · Member 2 — Mahalingam S.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Comparative Literature Summary Matrix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2514600" cy="502920"/>
          </a:xfrm>
          <a:prstGeom prst="rect">
            <a:avLst/>
          </a:prstGeom>
          <a:solidFill>
            <a:srgbClr val="0B1F3A"/>
          </a:solidFill>
          <a:ln w="6350">
            <a:solidFill>
              <a:srgbClr val="0B1F3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69164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Study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971800" y="1691640"/>
            <a:ext cx="685800" cy="502920"/>
          </a:xfrm>
          <a:prstGeom prst="rect">
            <a:avLst/>
          </a:prstGeom>
          <a:solidFill>
            <a:srgbClr val="0B1F3A"/>
          </a:solidFill>
          <a:ln w="6350">
            <a:solidFill>
              <a:srgbClr val="0B1F3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017520" y="169164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0" y="1691640"/>
            <a:ext cx="1965960" cy="502920"/>
          </a:xfrm>
          <a:prstGeom prst="rect">
            <a:avLst/>
          </a:prstGeom>
          <a:solidFill>
            <a:srgbClr val="0B1F3A"/>
          </a:solidFill>
          <a:ln w="6350">
            <a:solidFill>
              <a:srgbClr val="0B1F3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03320" y="169164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Source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623560" y="1691640"/>
            <a:ext cx="2423160" cy="502920"/>
          </a:xfrm>
          <a:prstGeom prst="rect">
            <a:avLst/>
          </a:prstGeom>
          <a:solidFill>
            <a:srgbClr val="0B1F3A"/>
          </a:solidFill>
          <a:ln w="6350">
            <a:solidFill>
              <a:srgbClr val="0B1F3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669280" y="16916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Engine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046720" y="1691640"/>
            <a:ext cx="1691640" cy="502920"/>
          </a:xfrm>
          <a:prstGeom prst="rect">
            <a:avLst/>
          </a:prstGeom>
          <a:solidFill>
            <a:srgbClr val="0B1F3A"/>
          </a:solidFill>
          <a:ln w="6350">
            <a:solidFill>
              <a:srgbClr val="0B1F3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092440" y="169164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Cost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738360" y="1691640"/>
            <a:ext cx="1965960" cy="502920"/>
          </a:xfrm>
          <a:prstGeom prst="rect">
            <a:avLst/>
          </a:prstGeom>
          <a:solidFill>
            <a:srgbClr val="0B1F3A"/>
          </a:solidFill>
          <a:ln w="6350">
            <a:solidFill>
              <a:srgbClr val="0B1F3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784080" y="169164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194560"/>
            <a:ext cx="2514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21208" y="2194560"/>
            <a:ext cx="2386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3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ProctorPlus (Amal et al.)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971800" y="2194560"/>
            <a:ext cx="6858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035808" y="2194560"/>
            <a:ext cx="557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3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0" y="2194560"/>
            <a:ext cx="19659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721608" y="2194560"/>
            <a:ext cx="1837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3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Webcam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623560" y="2194560"/>
            <a:ext cx="24231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687568" y="2194560"/>
            <a:ext cx="2295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3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YOLOv11 + Dlib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046720" y="2194560"/>
            <a:ext cx="16916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110728" y="2194560"/>
            <a:ext cx="1563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3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(Per-Student PC)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738360" y="2194560"/>
            <a:ext cx="19659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802368" y="2194560"/>
            <a:ext cx="1837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3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57200" y="2697480"/>
            <a:ext cx="2514600" cy="502920"/>
          </a:xfrm>
          <a:prstGeom prst="rect">
            <a:avLst/>
          </a:prstGeom>
          <a:solidFill>
            <a:srgbClr val="EDF1F7"/>
          </a:solidFill>
          <a:ln w="6350">
            <a:solidFill>
              <a:srgbClr val="DCE3E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21208" y="2697480"/>
            <a:ext cx="2386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3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Wang et al. (Nature Sci. Rep.)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971800" y="2697480"/>
            <a:ext cx="685800" cy="502920"/>
          </a:xfrm>
          <a:prstGeom prst="rect">
            <a:avLst/>
          </a:prstGeom>
          <a:solidFill>
            <a:srgbClr val="EDF1F7"/>
          </a:solidFill>
          <a:ln w="6350">
            <a:solidFill>
              <a:srgbClr val="DCE3E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035808" y="2697480"/>
            <a:ext cx="557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3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657600" y="2697480"/>
            <a:ext cx="1965960" cy="502920"/>
          </a:xfrm>
          <a:prstGeom prst="rect">
            <a:avLst/>
          </a:prstGeom>
          <a:solidFill>
            <a:srgbClr val="EDF1F7"/>
          </a:solidFill>
          <a:ln w="6350">
            <a:solidFill>
              <a:srgbClr val="DCE3EC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721608" y="2697480"/>
            <a:ext cx="1837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3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Overhead CCTV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623560" y="2697480"/>
            <a:ext cx="2423160" cy="502920"/>
          </a:xfrm>
          <a:prstGeom prst="rect">
            <a:avLst/>
          </a:prstGeom>
          <a:solidFill>
            <a:srgbClr val="EDF1F7"/>
          </a:solidFill>
          <a:ln w="6350">
            <a:solidFill>
              <a:srgbClr val="DCE3EC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687568" y="2697480"/>
            <a:ext cx="2295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3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YOLOv12 + Blockchain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8046720" y="2697480"/>
            <a:ext cx="1691640" cy="502920"/>
          </a:xfrm>
          <a:prstGeom prst="rect">
            <a:avLst/>
          </a:prstGeom>
          <a:solidFill>
            <a:srgbClr val="EDF1F7"/>
          </a:solidFill>
          <a:ln w="6350">
            <a:solidFill>
              <a:srgbClr val="DCE3EC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110728" y="2697480"/>
            <a:ext cx="1563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3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(Servers)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9738360" y="2697480"/>
            <a:ext cx="1965960" cy="502920"/>
          </a:xfrm>
          <a:prstGeom prst="rect">
            <a:avLst/>
          </a:prstGeom>
          <a:solidFill>
            <a:srgbClr val="EDF1F7"/>
          </a:solidFill>
          <a:ln w="6350">
            <a:solidFill>
              <a:srgbClr val="DCE3EC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9802368" y="2697480"/>
            <a:ext cx="1837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3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57200" y="3200400"/>
            <a:ext cx="2514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C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21208" y="3200400"/>
            <a:ext cx="2386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3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Mohapatra et al. (JTIM)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971800" y="3200400"/>
            <a:ext cx="6858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C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3035808" y="3200400"/>
            <a:ext cx="557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3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657600" y="3200400"/>
            <a:ext cx="19659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C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3721608" y="3200400"/>
            <a:ext cx="1837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3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 Embedded Cam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5623560" y="3200400"/>
            <a:ext cx="24231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C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5687568" y="3200400"/>
            <a:ext cx="2295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3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Haar Cascade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8046720" y="3200400"/>
            <a:ext cx="16916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C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8110728" y="3200400"/>
            <a:ext cx="1563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3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$35 / Desk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9738360" y="3200400"/>
            <a:ext cx="19659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C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9802368" y="3200400"/>
            <a:ext cx="1837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3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57200" y="3703320"/>
            <a:ext cx="2514600" cy="502920"/>
          </a:xfrm>
          <a:prstGeom prst="rect">
            <a:avLst/>
          </a:prstGeom>
          <a:solidFill>
            <a:srgbClr val="EDF1F7"/>
          </a:solidFill>
          <a:ln w="6350">
            <a:solidFill>
              <a:srgbClr val="DCE3EC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521208" y="3703320"/>
            <a:ext cx="2386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3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CCTV (Procedia CS)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2971800" y="3703320"/>
            <a:ext cx="685800" cy="502920"/>
          </a:xfrm>
          <a:prstGeom prst="rect">
            <a:avLst/>
          </a:prstGeom>
          <a:solidFill>
            <a:srgbClr val="EDF1F7"/>
          </a:solidFill>
          <a:ln w="6350">
            <a:solidFill>
              <a:srgbClr val="DCE3EC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3035808" y="3703320"/>
            <a:ext cx="557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3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3657600" y="3703320"/>
            <a:ext cx="1965960" cy="502920"/>
          </a:xfrm>
          <a:prstGeom prst="rect">
            <a:avLst/>
          </a:prstGeom>
          <a:solidFill>
            <a:srgbClr val="EDF1F7"/>
          </a:solidFill>
          <a:ln w="6350">
            <a:solidFill>
              <a:srgbClr val="DCE3EC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3721608" y="3703320"/>
            <a:ext cx="1837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3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Overhead CCTV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5623560" y="3703320"/>
            <a:ext cx="2423160" cy="502920"/>
          </a:xfrm>
          <a:prstGeom prst="rect">
            <a:avLst/>
          </a:prstGeom>
          <a:solidFill>
            <a:srgbClr val="EDF1F7"/>
          </a:solidFill>
          <a:ln w="6350">
            <a:solidFill>
              <a:srgbClr val="DCE3EC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5687568" y="3703320"/>
            <a:ext cx="2295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3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Transfer Learning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8046720" y="3703320"/>
            <a:ext cx="1691640" cy="502920"/>
          </a:xfrm>
          <a:prstGeom prst="rect">
            <a:avLst/>
          </a:prstGeom>
          <a:solidFill>
            <a:srgbClr val="EDF1F7"/>
          </a:solidFill>
          <a:ln w="6350">
            <a:solidFill>
              <a:srgbClr val="DCE3EC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8110728" y="3703320"/>
            <a:ext cx="1563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3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9738360" y="3703320"/>
            <a:ext cx="1965960" cy="502920"/>
          </a:xfrm>
          <a:prstGeom prst="rect">
            <a:avLst/>
          </a:prstGeom>
          <a:solidFill>
            <a:srgbClr val="EDF1F7"/>
          </a:solidFill>
          <a:ln w="6350">
            <a:solidFill>
              <a:srgbClr val="DCE3EC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9802368" y="3703320"/>
            <a:ext cx="1837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3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457200" y="4206240"/>
            <a:ext cx="2514600" cy="685800"/>
          </a:xfrm>
          <a:prstGeom prst="rect">
            <a:avLst/>
          </a:prstGeom>
          <a:solidFill>
            <a:srgbClr val="0F3552"/>
          </a:solidFill>
          <a:ln w="6350">
            <a:solidFill>
              <a:srgbClr val="0F3552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512064" y="4206240"/>
            <a:ext cx="2404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22 Proposed Framework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2971800" y="4206240"/>
            <a:ext cx="685800" cy="685800"/>
          </a:xfrm>
          <a:prstGeom prst="rect">
            <a:avLst/>
          </a:prstGeom>
          <a:solidFill>
            <a:srgbClr val="0F3552"/>
          </a:solidFill>
          <a:ln w="6350">
            <a:solidFill>
              <a:srgbClr val="0F3552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3026664" y="4206240"/>
            <a:ext cx="5760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3657600" y="4206240"/>
            <a:ext cx="1965960" cy="685800"/>
          </a:xfrm>
          <a:prstGeom prst="rect">
            <a:avLst/>
          </a:prstGeom>
          <a:solidFill>
            <a:srgbClr val="0F3552"/>
          </a:solidFill>
          <a:ln w="6350">
            <a:solidFill>
              <a:srgbClr val="0F3552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3712464" y="4206240"/>
            <a:ext cx="1856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Lab HD Camera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5623560" y="4206240"/>
            <a:ext cx="2423160" cy="685800"/>
          </a:xfrm>
          <a:prstGeom prst="rect">
            <a:avLst/>
          </a:prstGeom>
          <a:solidFill>
            <a:srgbClr val="0F3552"/>
          </a:solidFill>
          <a:ln w="6350">
            <a:solidFill>
              <a:srgbClr val="0F3552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5678424" y="4206240"/>
            <a:ext cx="2313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FaceNet + YOLOv8 + MediaPipe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8046720" y="4206240"/>
            <a:ext cx="1691640" cy="685800"/>
          </a:xfrm>
          <a:prstGeom prst="rect">
            <a:avLst/>
          </a:prstGeom>
          <a:solidFill>
            <a:srgbClr val="0F3552"/>
          </a:solidFill>
          <a:ln w="6350">
            <a:solidFill>
              <a:srgbClr val="0F3552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8101584" y="4206240"/>
            <a:ext cx="1581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 (Zero Cost)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9738360" y="4206240"/>
            <a:ext cx="1965960" cy="685800"/>
          </a:xfrm>
          <a:prstGeom prst="rect">
            <a:avLst/>
          </a:prstGeom>
          <a:solidFill>
            <a:srgbClr val="0F3552"/>
          </a:solidFill>
          <a:ln w="6350">
            <a:solidFill>
              <a:srgbClr val="0F3552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9793224" y="4206240"/>
            <a:ext cx="1856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(Grad-CAM &amp; SHAP)</a:t>
            </a:r>
            <a:endParaRPr lang="en-US" sz="950" dirty="0"/>
          </a:p>
        </p:txBody>
      </p:sp>
      <p:sp>
        <p:nvSpPr>
          <p:cNvPr id="76" name="Text 74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22 · Member 2 — Mahalingam S.</a:t>
            </a:r>
            <a:endParaRPr lang="en-US" sz="900" dirty="0"/>
          </a:p>
        </p:txBody>
      </p:sp>
      <p:sp>
        <p:nvSpPr>
          <p:cNvPr id="77" name="Text 7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Critical Research Gaps Addressed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553212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1B2A44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929384"/>
            <a:ext cx="457200" cy="457200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929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874520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Infrastructure &amp; Procurement Costs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5877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B27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834640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works require dedicated desk cameras or microcontrollers ($35–$100/desk).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31520" y="3392424"/>
            <a:ext cx="4983480" cy="0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34472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ADDRESSED BY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713232" y="3561588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3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Repurposes pre-installed Lab HD cameras — $0 additional cost.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1691640"/>
            <a:ext cx="553212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1B2A44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73952" y="1929384"/>
            <a:ext cx="457200" cy="457200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73952" y="1929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G2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132320" y="1874520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Latency &amp; Resolution Bottlenecks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25877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B27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6505162" y="2816352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Low-power desk micro-chips suffer bandwidth drops and 320×240 video quality.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92240" y="3392424"/>
            <a:ext cx="4983480" cy="0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05162" y="33878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ADDRESSED BY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6492240" y="3523891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3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USB/Ethernet 1080p @ 30 FPS streams.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4069080"/>
            <a:ext cx="553212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1B2A44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13232" y="4306824"/>
            <a:ext cx="457200" cy="457200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13232" y="4306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G3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371600" y="4251960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Black-Box, Unexplainable AI Flagging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731520" y="49651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B27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731520" y="5081951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deep learning proctoring outputs binary alerts without proof.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31520" y="5769864"/>
            <a:ext cx="4983480" cy="0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53604" y="5744891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ADDRESSED BY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731520" y="5893307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3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saliency heatmaps + SHAP additive attributions.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217920" y="4069080"/>
            <a:ext cx="553212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1B2A44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473952" y="4306824"/>
            <a:ext cx="457200" cy="457200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473952" y="4306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G4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7132320" y="4251960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Uncalibrated Single-Modality Risk</a:t>
            </a:r>
            <a:endParaRPr lang="en-US" sz="1350" dirty="0"/>
          </a:p>
        </p:txBody>
      </p:sp>
      <p:sp>
        <p:nvSpPr>
          <p:cNvPr id="35" name="Text 33"/>
          <p:cNvSpPr txBox="1"/>
          <p:nvPr/>
        </p:nvSpPr>
        <p:spPr>
          <a:xfrm>
            <a:off x="6492240" y="49651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B27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6492240" y="5111496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module detection causes high false-positive rates.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492240" y="5769864"/>
            <a:ext cx="4983480" cy="0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492240" y="57835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ADDRESSED BY</a:t>
            </a:r>
            <a:endParaRPr lang="en-US" sz="850" dirty="0"/>
          </a:p>
        </p:txBody>
      </p:sp>
      <p:sp>
        <p:nvSpPr>
          <p:cNvPr id="39" name="Text 37"/>
          <p:cNvSpPr txBox="1"/>
          <p:nvPr/>
        </p:nvSpPr>
        <p:spPr>
          <a:xfrm>
            <a:off x="6473952" y="5906464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3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fusion: 0.40 Auth + 0.40 Object + 0.20 Pose.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22 · Member 2 — Mahalingam S.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486400" cy="5486400"/>
          </a:xfrm>
          <a:prstGeom prst="ellipse">
            <a:avLst/>
          </a:prstGeom>
          <a:solidFill>
            <a:srgbClr val="132A4C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206240"/>
            <a:ext cx="3840480" cy="3840480"/>
          </a:xfrm>
          <a:prstGeom prst="ellipse">
            <a:avLst/>
          </a:prstGeom>
          <a:solidFill>
            <a:srgbClr val="132A4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46888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33756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822960" y="4069080"/>
            <a:ext cx="292608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42976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Mahalingam S.</a:t>
            </a:r>
            <a:r>
              <a:rPr lang="en-US" sz="1500" dirty="0">
                <a:solidFill>
                  <a:srgbClr val="AEB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CB.SC.P2CSE26016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66344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22 — Member 2, System Architecture &amp; Infrastructure Integration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1467</Words>
  <Application>Microsoft Office PowerPoint</Application>
  <PresentationFormat>Widescreen</PresentationFormat>
  <Paragraphs>266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s_mahalingam9486@outlook.com</cp:lastModifiedBy>
  <cp:revision>2</cp:revision>
  <dcterms:created xsi:type="dcterms:W3CDTF">2026-08-28T08:56:57Z</dcterms:created>
  <dcterms:modified xsi:type="dcterms:W3CDTF">2026-08-28T09:26:03Z</dcterms:modified>
</cp:coreProperties>
</file>